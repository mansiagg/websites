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8" r:id="rId2"/>
    <p:sldId id="30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0" d="100"/>
          <a:sy n="90" d="100"/>
        </p:scale>
        <p:origin x="57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FDFE2-51AE-44E8-9CE8-05119DA081A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35A43B3-CF1E-4AC6-9C1F-F630EAD06E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FEB7411-2AEA-4860-8369-58001049402F}"/>
              </a:ext>
            </a:extLst>
          </p:cNvPr>
          <p:cNvSpPr>
            <a:spLocks noGrp="1"/>
          </p:cNvSpPr>
          <p:nvPr>
            <p:ph type="dt" sz="half" idx="10"/>
          </p:nvPr>
        </p:nvSpPr>
        <p:spPr/>
        <p:txBody>
          <a:bodyPr/>
          <a:lstStyle/>
          <a:p>
            <a:fld id="{37A732FB-0522-47BB-A854-0DA6DC0C8115}" type="datetimeFigureOut">
              <a:rPr lang="en-IN" smtClean="0"/>
              <a:t>11-03-2026</a:t>
            </a:fld>
            <a:endParaRPr lang="en-IN"/>
          </a:p>
        </p:txBody>
      </p:sp>
      <p:sp>
        <p:nvSpPr>
          <p:cNvPr id="5" name="Footer Placeholder 4">
            <a:extLst>
              <a:ext uri="{FF2B5EF4-FFF2-40B4-BE49-F238E27FC236}">
                <a16:creationId xmlns:a16="http://schemas.microsoft.com/office/drawing/2014/main" id="{AEC8B96B-6FC4-435E-A47C-94CD0225B6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9F3BBF-1E51-46AE-A32D-B99C9331025A}"/>
              </a:ext>
            </a:extLst>
          </p:cNvPr>
          <p:cNvSpPr>
            <a:spLocks noGrp="1"/>
          </p:cNvSpPr>
          <p:nvPr>
            <p:ph type="sldNum" sz="quarter" idx="12"/>
          </p:nvPr>
        </p:nvSpPr>
        <p:spPr/>
        <p:txBody>
          <a:bodyPr/>
          <a:lstStyle/>
          <a:p>
            <a:fld id="{687088A1-D942-4831-AA1A-7ADD70B83A9B}" type="slidenum">
              <a:rPr lang="en-IN" smtClean="0"/>
              <a:t>‹#›</a:t>
            </a:fld>
            <a:endParaRPr lang="en-IN"/>
          </a:p>
        </p:txBody>
      </p:sp>
    </p:spTree>
    <p:extLst>
      <p:ext uri="{BB962C8B-B14F-4D97-AF65-F5344CB8AC3E}">
        <p14:creationId xmlns:p14="http://schemas.microsoft.com/office/powerpoint/2010/main" val="681279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631FD-7724-4C74-85CC-6C908F3B5D4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05B3D68-B57F-477C-8AF5-ED99D19F12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D3DB324-857F-4A2B-9C01-FCD87EC4DFBC}"/>
              </a:ext>
            </a:extLst>
          </p:cNvPr>
          <p:cNvSpPr>
            <a:spLocks noGrp="1"/>
          </p:cNvSpPr>
          <p:nvPr>
            <p:ph type="dt" sz="half" idx="10"/>
          </p:nvPr>
        </p:nvSpPr>
        <p:spPr/>
        <p:txBody>
          <a:bodyPr/>
          <a:lstStyle/>
          <a:p>
            <a:fld id="{37A732FB-0522-47BB-A854-0DA6DC0C8115}" type="datetimeFigureOut">
              <a:rPr lang="en-IN" smtClean="0"/>
              <a:t>11-03-2026</a:t>
            </a:fld>
            <a:endParaRPr lang="en-IN"/>
          </a:p>
        </p:txBody>
      </p:sp>
      <p:sp>
        <p:nvSpPr>
          <p:cNvPr id="5" name="Footer Placeholder 4">
            <a:extLst>
              <a:ext uri="{FF2B5EF4-FFF2-40B4-BE49-F238E27FC236}">
                <a16:creationId xmlns:a16="http://schemas.microsoft.com/office/drawing/2014/main" id="{194FDD95-04F4-4A09-8F84-C128CB0659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5D17F2-7AEA-4266-B0C2-BCA619A6732E}"/>
              </a:ext>
            </a:extLst>
          </p:cNvPr>
          <p:cNvSpPr>
            <a:spLocks noGrp="1"/>
          </p:cNvSpPr>
          <p:nvPr>
            <p:ph type="sldNum" sz="quarter" idx="12"/>
          </p:nvPr>
        </p:nvSpPr>
        <p:spPr/>
        <p:txBody>
          <a:bodyPr/>
          <a:lstStyle/>
          <a:p>
            <a:fld id="{687088A1-D942-4831-AA1A-7ADD70B83A9B}" type="slidenum">
              <a:rPr lang="en-IN" smtClean="0"/>
              <a:t>‹#›</a:t>
            </a:fld>
            <a:endParaRPr lang="en-IN"/>
          </a:p>
        </p:txBody>
      </p:sp>
    </p:spTree>
    <p:extLst>
      <p:ext uri="{BB962C8B-B14F-4D97-AF65-F5344CB8AC3E}">
        <p14:creationId xmlns:p14="http://schemas.microsoft.com/office/powerpoint/2010/main" val="37177532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28095-1CCC-48EA-A98E-8B749DFFA81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9637634-898B-4BBD-8387-B3091DF417A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28A88E-6C5A-495C-A4E1-4CC2C4E8BDAE}"/>
              </a:ext>
            </a:extLst>
          </p:cNvPr>
          <p:cNvSpPr>
            <a:spLocks noGrp="1"/>
          </p:cNvSpPr>
          <p:nvPr>
            <p:ph type="dt" sz="half" idx="10"/>
          </p:nvPr>
        </p:nvSpPr>
        <p:spPr/>
        <p:txBody>
          <a:bodyPr/>
          <a:lstStyle/>
          <a:p>
            <a:fld id="{37A732FB-0522-47BB-A854-0DA6DC0C8115}" type="datetimeFigureOut">
              <a:rPr lang="en-IN" smtClean="0"/>
              <a:t>11-03-2026</a:t>
            </a:fld>
            <a:endParaRPr lang="en-IN"/>
          </a:p>
        </p:txBody>
      </p:sp>
      <p:sp>
        <p:nvSpPr>
          <p:cNvPr id="5" name="Footer Placeholder 4">
            <a:extLst>
              <a:ext uri="{FF2B5EF4-FFF2-40B4-BE49-F238E27FC236}">
                <a16:creationId xmlns:a16="http://schemas.microsoft.com/office/drawing/2014/main" id="{06A0BED9-0670-4682-9DD7-0675644686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3CB8BE-2030-4B21-8473-AE8DBCAA9BCE}"/>
              </a:ext>
            </a:extLst>
          </p:cNvPr>
          <p:cNvSpPr>
            <a:spLocks noGrp="1"/>
          </p:cNvSpPr>
          <p:nvPr>
            <p:ph type="sldNum" sz="quarter" idx="12"/>
          </p:nvPr>
        </p:nvSpPr>
        <p:spPr/>
        <p:txBody>
          <a:bodyPr/>
          <a:lstStyle/>
          <a:p>
            <a:fld id="{687088A1-D942-4831-AA1A-7ADD70B83A9B}" type="slidenum">
              <a:rPr lang="en-IN" smtClean="0"/>
              <a:t>‹#›</a:t>
            </a:fld>
            <a:endParaRPr lang="en-IN"/>
          </a:p>
        </p:txBody>
      </p:sp>
    </p:spTree>
    <p:extLst>
      <p:ext uri="{BB962C8B-B14F-4D97-AF65-F5344CB8AC3E}">
        <p14:creationId xmlns:p14="http://schemas.microsoft.com/office/powerpoint/2010/main" val="1544888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F6CA5-B151-4469-B9A6-901D77D0311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DD37009-4118-4317-8995-EBBEABFD75A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F4C0513-A5B0-44E8-9ED7-F448BBC110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6ADC363-6A2F-4E68-874D-1F29C67F231C}"/>
              </a:ext>
            </a:extLst>
          </p:cNvPr>
          <p:cNvSpPr>
            <a:spLocks noGrp="1"/>
          </p:cNvSpPr>
          <p:nvPr>
            <p:ph type="dt" sz="half" idx="10"/>
          </p:nvPr>
        </p:nvSpPr>
        <p:spPr/>
        <p:txBody>
          <a:bodyPr/>
          <a:lstStyle/>
          <a:p>
            <a:fld id="{37A732FB-0522-47BB-A854-0DA6DC0C8115}" type="datetimeFigureOut">
              <a:rPr lang="en-IN" smtClean="0"/>
              <a:t>11-03-2026</a:t>
            </a:fld>
            <a:endParaRPr lang="en-IN"/>
          </a:p>
        </p:txBody>
      </p:sp>
      <p:sp>
        <p:nvSpPr>
          <p:cNvPr id="6" name="Footer Placeholder 5">
            <a:extLst>
              <a:ext uri="{FF2B5EF4-FFF2-40B4-BE49-F238E27FC236}">
                <a16:creationId xmlns:a16="http://schemas.microsoft.com/office/drawing/2014/main" id="{880A2D63-9057-456C-B064-7DC7A0D869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39F3812-B9B8-4A22-ABF1-B5671469ECB2}"/>
              </a:ext>
            </a:extLst>
          </p:cNvPr>
          <p:cNvSpPr>
            <a:spLocks noGrp="1"/>
          </p:cNvSpPr>
          <p:nvPr>
            <p:ph type="sldNum" sz="quarter" idx="12"/>
          </p:nvPr>
        </p:nvSpPr>
        <p:spPr/>
        <p:txBody>
          <a:bodyPr/>
          <a:lstStyle/>
          <a:p>
            <a:fld id="{687088A1-D942-4831-AA1A-7ADD70B83A9B}" type="slidenum">
              <a:rPr lang="en-IN" smtClean="0"/>
              <a:t>‹#›</a:t>
            </a:fld>
            <a:endParaRPr lang="en-IN"/>
          </a:p>
        </p:txBody>
      </p:sp>
    </p:spTree>
    <p:extLst>
      <p:ext uri="{BB962C8B-B14F-4D97-AF65-F5344CB8AC3E}">
        <p14:creationId xmlns:p14="http://schemas.microsoft.com/office/powerpoint/2010/main" val="4111996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15657-EE2E-4A7B-9B24-8D83C1BDBDD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01DE992-673C-4494-800B-7BA3070542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3F0B7F-F0DF-4B00-AD67-4456DA1C83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DAC7104-2109-4EA8-8D75-C5914CF945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3D1BE68-3427-46C3-8FE6-4092BF4096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B110468-F989-41D4-8E3B-782BFD64BE38}"/>
              </a:ext>
            </a:extLst>
          </p:cNvPr>
          <p:cNvSpPr>
            <a:spLocks noGrp="1"/>
          </p:cNvSpPr>
          <p:nvPr>
            <p:ph type="dt" sz="half" idx="10"/>
          </p:nvPr>
        </p:nvSpPr>
        <p:spPr/>
        <p:txBody>
          <a:bodyPr/>
          <a:lstStyle/>
          <a:p>
            <a:fld id="{37A732FB-0522-47BB-A854-0DA6DC0C8115}" type="datetimeFigureOut">
              <a:rPr lang="en-IN" smtClean="0"/>
              <a:t>11-03-2026</a:t>
            </a:fld>
            <a:endParaRPr lang="en-IN"/>
          </a:p>
        </p:txBody>
      </p:sp>
      <p:sp>
        <p:nvSpPr>
          <p:cNvPr id="8" name="Footer Placeholder 7">
            <a:extLst>
              <a:ext uri="{FF2B5EF4-FFF2-40B4-BE49-F238E27FC236}">
                <a16:creationId xmlns:a16="http://schemas.microsoft.com/office/drawing/2014/main" id="{222BF319-A720-45F9-A9B7-7D4CCDDE34B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ABAD194-1751-4868-874F-EF6395A2EF05}"/>
              </a:ext>
            </a:extLst>
          </p:cNvPr>
          <p:cNvSpPr>
            <a:spLocks noGrp="1"/>
          </p:cNvSpPr>
          <p:nvPr>
            <p:ph type="sldNum" sz="quarter" idx="12"/>
          </p:nvPr>
        </p:nvSpPr>
        <p:spPr/>
        <p:txBody>
          <a:bodyPr/>
          <a:lstStyle/>
          <a:p>
            <a:fld id="{687088A1-D942-4831-AA1A-7ADD70B83A9B}" type="slidenum">
              <a:rPr lang="en-IN" smtClean="0"/>
              <a:t>‹#›</a:t>
            </a:fld>
            <a:endParaRPr lang="en-IN"/>
          </a:p>
        </p:txBody>
      </p:sp>
    </p:spTree>
    <p:extLst>
      <p:ext uri="{BB962C8B-B14F-4D97-AF65-F5344CB8AC3E}">
        <p14:creationId xmlns:p14="http://schemas.microsoft.com/office/powerpoint/2010/main" val="489033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F23E0-EED9-40A2-A7C5-1890C6D4BFC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5D1EC9D-D6DA-482C-A315-9479191761B5}"/>
              </a:ext>
            </a:extLst>
          </p:cNvPr>
          <p:cNvSpPr>
            <a:spLocks noGrp="1"/>
          </p:cNvSpPr>
          <p:nvPr>
            <p:ph type="dt" sz="half" idx="10"/>
          </p:nvPr>
        </p:nvSpPr>
        <p:spPr/>
        <p:txBody>
          <a:bodyPr/>
          <a:lstStyle/>
          <a:p>
            <a:fld id="{37A732FB-0522-47BB-A854-0DA6DC0C8115}" type="datetimeFigureOut">
              <a:rPr lang="en-IN" smtClean="0"/>
              <a:t>11-03-2026</a:t>
            </a:fld>
            <a:endParaRPr lang="en-IN"/>
          </a:p>
        </p:txBody>
      </p:sp>
      <p:sp>
        <p:nvSpPr>
          <p:cNvPr id="4" name="Footer Placeholder 3">
            <a:extLst>
              <a:ext uri="{FF2B5EF4-FFF2-40B4-BE49-F238E27FC236}">
                <a16:creationId xmlns:a16="http://schemas.microsoft.com/office/drawing/2014/main" id="{337675FC-0C29-4F2B-97EF-999F52FA04D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52B7876-26B3-45CC-BF2F-26E3492E8D75}"/>
              </a:ext>
            </a:extLst>
          </p:cNvPr>
          <p:cNvSpPr>
            <a:spLocks noGrp="1"/>
          </p:cNvSpPr>
          <p:nvPr>
            <p:ph type="sldNum" sz="quarter" idx="12"/>
          </p:nvPr>
        </p:nvSpPr>
        <p:spPr/>
        <p:txBody>
          <a:bodyPr/>
          <a:lstStyle/>
          <a:p>
            <a:fld id="{687088A1-D942-4831-AA1A-7ADD70B83A9B}" type="slidenum">
              <a:rPr lang="en-IN" smtClean="0"/>
              <a:t>‹#›</a:t>
            </a:fld>
            <a:endParaRPr lang="en-IN"/>
          </a:p>
        </p:txBody>
      </p:sp>
    </p:spTree>
    <p:extLst>
      <p:ext uri="{BB962C8B-B14F-4D97-AF65-F5344CB8AC3E}">
        <p14:creationId xmlns:p14="http://schemas.microsoft.com/office/powerpoint/2010/main" val="2299678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B80EDA-D2AA-4411-A737-A3FF6582A578}"/>
              </a:ext>
            </a:extLst>
          </p:cNvPr>
          <p:cNvSpPr>
            <a:spLocks noGrp="1"/>
          </p:cNvSpPr>
          <p:nvPr>
            <p:ph type="dt" sz="half" idx="10"/>
          </p:nvPr>
        </p:nvSpPr>
        <p:spPr/>
        <p:txBody>
          <a:bodyPr/>
          <a:lstStyle/>
          <a:p>
            <a:fld id="{37A732FB-0522-47BB-A854-0DA6DC0C8115}" type="datetimeFigureOut">
              <a:rPr lang="en-IN" smtClean="0"/>
              <a:t>11-03-2026</a:t>
            </a:fld>
            <a:endParaRPr lang="en-IN"/>
          </a:p>
        </p:txBody>
      </p:sp>
      <p:sp>
        <p:nvSpPr>
          <p:cNvPr id="3" name="Footer Placeholder 2">
            <a:extLst>
              <a:ext uri="{FF2B5EF4-FFF2-40B4-BE49-F238E27FC236}">
                <a16:creationId xmlns:a16="http://schemas.microsoft.com/office/drawing/2014/main" id="{683FE5A6-9701-43BD-ADFB-E66B3CCD77D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5BA5880-DF22-4AD4-B8C8-8622BD5DD248}"/>
              </a:ext>
            </a:extLst>
          </p:cNvPr>
          <p:cNvSpPr>
            <a:spLocks noGrp="1"/>
          </p:cNvSpPr>
          <p:nvPr>
            <p:ph type="sldNum" sz="quarter" idx="12"/>
          </p:nvPr>
        </p:nvSpPr>
        <p:spPr/>
        <p:txBody>
          <a:bodyPr/>
          <a:lstStyle/>
          <a:p>
            <a:fld id="{687088A1-D942-4831-AA1A-7ADD70B83A9B}" type="slidenum">
              <a:rPr lang="en-IN" smtClean="0"/>
              <a:t>‹#›</a:t>
            </a:fld>
            <a:endParaRPr lang="en-IN"/>
          </a:p>
        </p:txBody>
      </p:sp>
    </p:spTree>
    <p:extLst>
      <p:ext uri="{BB962C8B-B14F-4D97-AF65-F5344CB8AC3E}">
        <p14:creationId xmlns:p14="http://schemas.microsoft.com/office/powerpoint/2010/main" val="4073779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91C05-0D02-4CE2-8A04-ED9CE06B53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D12183F-0922-4252-A097-4F45A00DF2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A452C24-BBB3-48A9-A20F-647CC188B0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F1D7F1-31FC-4847-8ADF-CB228501AE3E}"/>
              </a:ext>
            </a:extLst>
          </p:cNvPr>
          <p:cNvSpPr>
            <a:spLocks noGrp="1"/>
          </p:cNvSpPr>
          <p:nvPr>
            <p:ph type="dt" sz="half" idx="10"/>
          </p:nvPr>
        </p:nvSpPr>
        <p:spPr/>
        <p:txBody>
          <a:bodyPr/>
          <a:lstStyle/>
          <a:p>
            <a:fld id="{37A732FB-0522-47BB-A854-0DA6DC0C8115}" type="datetimeFigureOut">
              <a:rPr lang="en-IN" smtClean="0"/>
              <a:t>11-03-2026</a:t>
            </a:fld>
            <a:endParaRPr lang="en-IN"/>
          </a:p>
        </p:txBody>
      </p:sp>
      <p:sp>
        <p:nvSpPr>
          <p:cNvPr id="6" name="Footer Placeholder 5">
            <a:extLst>
              <a:ext uri="{FF2B5EF4-FFF2-40B4-BE49-F238E27FC236}">
                <a16:creationId xmlns:a16="http://schemas.microsoft.com/office/drawing/2014/main" id="{277F671A-85CF-47EE-A4DC-E5D6ED82123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1C0073F-A8B3-42BB-BD67-F479E7F31AD1}"/>
              </a:ext>
            </a:extLst>
          </p:cNvPr>
          <p:cNvSpPr>
            <a:spLocks noGrp="1"/>
          </p:cNvSpPr>
          <p:nvPr>
            <p:ph type="sldNum" sz="quarter" idx="12"/>
          </p:nvPr>
        </p:nvSpPr>
        <p:spPr/>
        <p:txBody>
          <a:bodyPr/>
          <a:lstStyle/>
          <a:p>
            <a:fld id="{687088A1-D942-4831-AA1A-7ADD70B83A9B}" type="slidenum">
              <a:rPr lang="en-IN" smtClean="0"/>
              <a:t>‹#›</a:t>
            </a:fld>
            <a:endParaRPr lang="en-IN"/>
          </a:p>
        </p:txBody>
      </p:sp>
    </p:spTree>
    <p:extLst>
      <p:ext uri="{BB962C8B-B14F-4D97-AF65-F5344CB8AC3E}">
        <p14:creationId xmlns:p14="http://schemas.microsoft.com/office/powerpoint/2010/main" val="27279246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E1EF6-5695-4911-AE3F-0E2FE33D3B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8354BB5-94BF-4EA7-B075-A8302A1820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068D518-1EE3-4323-95FF-BC5CEA37BD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F279A0-C726-4F7C-BF60-2BBE0DF0BF99}"/>
              </a:ext>
            </a:extLst>
          </p:cNvPr>
          <p:cNvSpPr>
            <a:spLocks noGrp="1"/>
          </p:cNvSpPr>
          <p:nvPr>
            <p:ph type="dt" sz="half" idx="10"/>
          </p:nvPr>
        </p:nvSpPr>
        <p:spPr/>
        <p:txBody>
          <a:bodyPr/>
          <a:lstStyle/>
          <a:p>
            <a:fld id="{37A732FB-0522-47BB-A854-0DA6DC0C8115}" type="datetimeFigureOut">
              <a:rPr lang="en-IN" smtClean="0"/>
              <a:t>11-03-2026</a:t>
            </a:fld>
            <a:endParaRPr lang="en-IN"/>
          </a:p>
        </p:txBody>
      </p:sp>
      <p:sp>
        <p:nvSpPr>
          <p:cNvPr id="6" name="Footer Placeholder 5">
            <a:extLst>
              <a:ext uri="{FF2B5EF4-FFF2-40B4-BE49-F238E27FC236}">
                <a16:creationId xmlns:a16="http://schemas.microsoft.com/office/drawing/2014/main" id="{36404AE0-33D2-4493-8B55-8AFC1BED374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E118F19-935B-42F9-91F5-1A0E4559A058}"/>
              </a:ext>
            </a:extLst>
          </p:cNvPr>
          <p:cNvSpPr>
            <a:spLocks noGrp="1"/>
          </p:cNvSpPr>
          <p:nvPr>
            <p:ph type="sldNum" sz="quarter" idx="12"/>
          </p:nvPr>
        </p:nvSpPr>
        <p:spPr/>
        <p:txBody>
          <a:bodyPr/>
          <a:lstStyle/>
          <a:p>
            <a:fld id="{687088A1-D942-4831-AA1A-7ADD70B83A9B}" type="slidenum">
              <a:rPr lang="en-IN" smtClean="0"/>
              <a:t>‹#›</a:t>
            </a:fld>
            <a:endParaRPr lang="en-IN"/>
          </a:p>
        </p:txBody>
      </p:sp>
    </p:spTree>
    <p:extLst>
      <p:ext uri="{BB962C8B-B14F-4D97-AF65-F5344CB8AC3E}">
        <p14:creationId xmlns:p14="http://schemas.microsoft.com/office/powerpoint/2010/main" val="4146056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08552-8E1D-46EC-AD18-52FCFB8E15A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C89AC8E-84DE-449D-AB26-99C084A06F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1BBFF5-FD3B-4358-ACFE-8C9240DCD14E}"/>
              </a:ext>
            </a:extLst>
          </p:cNvPr>
          <p:cNvSpPr>
            <a:spLocks noGrp="1"/>
          </p:cNvSpPr>
          <p:nvPr>
            <p:ph type="dt" sz="half" idx="10"/>
          </p:nvPr>
        </p:nvSpPr>
        <p:spPr/>
        <p:txBody>
          <a:bodyPr/>
          <a:lstStyle/>
          <a:p>
            <a:fld id="{37A732FB-0522-47BB-A854-0DA6DC0C8115}" type="datetimeFigureOut">
              <a:rPr lang="en-IN" smtClean="0"/>
              <a:t>11-03-2026</a:t>
            </a:fld>
            <a:endParaRPr lang="en-IN"/>
          </a:p>
        </p:txBody>
      </p:sp>
      <p:sp>
        <p:nvSpPr>
          <p:cNvPr id="5" name="Footer Placeholder 4">
            <a:extLst>
              <a:ext uri="{FF2B5EF4-FFF2-40B4-BE49-F238E27FC236}">
                <a16:creationId xmlns:a16="http://schemas.microsoft.com/office/drawing/2014/main" id="{51164762-4019-41C7-AFFD-A382926DFB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CEF4B5-1FDC-46A6-BE86-97945B18BE25}"/>
              </a:ext>
            </a:extLst>
          </p:cNvPr>
          <p:cNvSpPr>
            <a:spLocks noGrp="1"/>
          </p:cNvSpPr>
          <p:nvPr>
            <p:ph type="sldNum" sz="quarter" idx="12"/>
          </p:nvPr>
        </p:nvSpPr>
        <p:spPr/>
        <p:txBody>
          <a:bodyPr/>
          <a:lstStyle/>
          <a:p>
            <a:fld id="{687088A1-D942-4831-AA1A-7ADD70B83A9B}" type="slidenum">
              <a:rPr lang="en-IN" smtClean="0"/>
              <a:t>‹#›</a:t>
            </a:fld>
            <a:endParaRPr lang="en-IN"/>
          </a:p>
        </p:txBody>
      </p:sp>
    </p:spTree>
    <p:extLst>
      <p:ext uri="{BB962C8B-B14F-4D97-AF65-F5344CB8AC3E}">
        <p14:creationId xmlns:p14="http://schemas.microsoft.com/office/powerpoint/2010/main" val="4189487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9CAE87-F7E7-4818-BB44-FC7DF060A9D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0162FFF-00F5-40EB-A5B9-155927DE15F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020B49-F950-45CE-9D9F-E400CC4BEB4B}"/>
              </a:ext>
            </a:extLst>
          </p:cNvPr>
          <p:cNvSpPr>
            <a:spLocks noGrp="1"/>
          </p:cNvSpPr>
          <p:nvPr>
            <p:ph type="dt" sz="half" idx="10"/>
          </p:nvPr>
        </p:nvSpPr>
        <p:spPr/>
        <p:txBody>
          <a:bodyPr/>
          <a:lstStyle/>
          <a:p>
            <a:fld id="{37A732FB-0522-47BB-A854-0DA6DC0C8115}" type="datetimeFigureOut">
              <a:rPr lang="en-IN" smtClean="0"/>
              <a:t>11-03-2026</a:t>
            </a:fld>
            <a:endParaRPr lang="en-IN"/>
          </a:p>
        </p:txBody>
      </p:sp>
      <p:sp>
        <p:nvSpPr>
          <p:cNvPr id="5" name="Footer Placeholder 4">
            <a:extLst>
              <a:ext uri="{FF2B5EF4-FFF2-40B4-BE49-F238E27FC236}">
                <a16:creationId xmlns:a16="http://schemas.microsoft.com/office/drawing/2014/main" id="{3AE21E9A-D3E2-409C-9780-AEDF220FF2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E91672-9B6F-4B72-95BD-7C31955E8909}"/>
              </a:ext>
            </a:extLst>
          </p:cNvPr>
          <p:cNvSpPr>
            <a:spLocks noGrp="1"/>
          </p:cNvSpPr>
          <p:nvPr>
            <p:ph type="sldNum" sz="quarter" idx="12"/>
          </p:nvPr>
        </p:nvSpPr>
        <p:spPr/>
        <p:txBody>
          <a:bodyPr/>
          <a:lstStyle/>
          <a:p>
            <a:fld id="{687088A1-D942-4831-AA1A-7ADD70B83A9B}" type="slidenum">
              <a:rPr lang="en-IN" smtClean="0"/>
              <a:t>‹#›</a:t>
            </a:fld>
            <a:endParaRPr lang="en-IN"/>
          </a:p>
        </p:txBody>
      </p:sp>
    </p:spTree>
    <p:extLst>
      <p:ext uri="{BB962C8B-B14F-4D97-AF65-F5344CB8AC3E}">
        <p14:creationId xmlns:p14="http://schemas.microsoft.com/office/powerpoint/2010/main" val="22628263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31B1D4-1870-4DB3-8BD1-2CB74427E9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49E262E-43F7-40AB-84CA-8B6DC1C9F8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CECE67-FA75-4FF6-A280-769288C8CF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A732FB-0522-47BB-A854-0DA6DC0C8115}" type="datetimeFigureOut">
              <a:rPr lang="en-IN" smtClean="0"/>
              <a:t>11-03-2026</a:t>
            </a:fld>
            <a:endParaRPr lang="en-IN"/>
          </a:p>
        </p:txBody>
      </p:sp>
      <p:sp>
        <p:nvSpPr>
          <p:cNvPr id="5" name="Footer Placeholder 4">
            <a:extLst>
              <a:ext uri="{FF2B5EF4-FFF2-40B4-BE49-F238E27FC236}">
                <a16:creationId xmlns:a16="http://schemas.microsoft.com/office/drawing/2014/main" id="{16E904DA-DBBF-49B4-B648-574B3FE8E8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1BCF5B2-69D6-4ACE-8C38-386061FA3E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7088A1-D942-4831-AA1A-7ADD70B83A9B}" type="slidenum">
              <a:rPr lang="en-IN" smtClean="0"/>
              <a:t>‹#›</a:t>
            </a:fld>
            <a:endParaRPr lang="en-IN"/>
          </a:p>
        </p:txBody>
      </p:sp>
    </p:spTree>
    <p:extLst>
      <p:ext uri="{BB962C8B-B14F-4D97-AF65-F5344CB8AC3E}">
        <p14:creationId xmlns:p14="http://schemas.microsoft.com/office/powerpoint/2010/main" val="11961180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5.jpg"/><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6299278" y="3224111"/>
            <a:ext cx="5567409" cy="232608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Box 6"/>
          <p:cNvSpPr txBox="1"/>
          <p:nvPr/>
        </p:nvSpPr>
        <p:spPr>
          <a:xfrm>
            <a:off x="342602" y="731151"/>
            <a:ext cx="11375136" cy="803040"/>
          </a:xfrm>
          <a:prstGeom prst="rect">
            <a:avLst/>
          </a:prstGeom>
          <a:noFill/>
        </p:spPr>
        <p:txBody>
          <a:bodyPr wrap="square" rtlCol="0">
            <a:spAutoFit/>
          </a:bodyPr>
          <a:lstStyle/>
          <a:p>
            <a:pPr algn="just">
              <a:lnSpc>
                <a:spcPts val="1900"/>
              </a:lnSpc>
              <a:spcBef>
                <a:spcPts val="600"/>
              </a:spcBef>
              <a:spcAft>
                <a:spcPts val="600"/>
              </a:spcAft>
            </a:pPr>
            <a:r>
              <a:rPr lang="en-US" sz="1200" b="1" dirty="0">
                <a:solidFill>
                  <a:srgbClr val="C00000"/>
                </a:solidFill>
              </a:rPr>
              <a:t>e-AUSHADHI </a:t>
            </a:r>
            <a:r>
              <a:rPr lang="en-GB" sz="1200" b="1" dirty="0"/>
              <a:t>is a web based Supply Chain Management System that deals in purchase, supply, distribution and inventory management of various drugs, sutures, surgical and consumable items by linking various Regional/ District Drug warehouses (DWH), District Hospitals (DH), their sub stores like Community Health Centre (CHC), Primary Health Centre (PHC) and Sub Centres. The system also has the functionality for distribution of drugs to patients, thus enabling tracking of consumption till last mile.</a:t>
            </a:r>
          </a:p>
        </p:txBody>
      </p:sp>
      <p:sp>
        <p:nvSpPr>
          <p:cNvPr id="8" name="TextBox 7"/>
          <p:cNvSpPr txBox="1"/>
          <p:nvPr/>
        </p:nvSpPr>
        <p:spPr>
          <a:xfrm>
            <a:off x="6513729" y="3385701"/>
            <a:ext cx="3956569" cy="276999"/>
          </a:xfrm>
          <a:prstGeom prst="rect">
            <a:avLst/>
          </a:prstGeom>
          <a:noFill/>
        </p:spPr>
        <p:txBody>
          <a:bodyPr wrap="square" rtlCol="0">
            <a:spAutoFit/>
          </a:bodyPr>
          <a:lstStyle/>
          <a:p>
            <a:r>
              <a:rPr lang="en-GB" sz="1200" dirty="0">
                <a:solidFill>
                  <a:srgbClr val="C00000"/>
                </a:solidFill>
                <a:latin typeface="Arial Black" pitchFamily="34" charset="0"/>
              </a:rPr>
              <a:t>KEY FEATURES</a:t>
            </a:r>
          </a:p>
        </p:txBody>
      </p:sp>
      <p:sp>
        <p:nvSpPr>
          <p:cNvPr id="11" name="TextBox 10"/>
          <p:cNvSpPr txBox="1"/>
          <p:nvPr/>
        </p:nvSpPr>
        <p:spPr>
          <a:xfrm>
            <a:off x="6513729" y="3669084"/>
            <a:ext cx="5044626" cy="1754326"/>
          </a:xfrm>
          <a:prstGeom prst="rect">
            <a:avLst/>
          </a:prstGeom>
          <a:noFill/>
        </p:spPr>
        <p:txBody>
          <a:bodyPr wrap="square" rtlCol="0">
            <a:spAutoFit/>
          </a:bodyPr>
          <a:lstStyle/>
          <a:p>
            <a:pPr>
              <a:buFont typeface="Wingdings" pitchFamily="2" charset="2"/>
              <a:buChar char="q"/>
            </a:pPr>
            <a:r>
              <a:rPr lang="en-US" sz="1200" dirty="0" smtClean="0"/>
              <a:t> Web </a:t>
            </a:r>
            <a:r>
              <a:rPr lang="en-US" sz="1200" dirty="0"/>
              <a:t>based on Open Source platform</a:t>
            </a:r>
          </a:p>
          <a:p>
            <a:pPr>
              <a:buFont typeface="Wingdings" pitchFamily="2" charset="2"/>
              <a:buChar char="q"/>
            </a:pPr>
            <a:r>
              <a:rPr lang="en-GB" sz="1200" dirty="0" smtClean="0"/>
              <a:t> Alert </a:t>
            </a:r>
            <a:r>
              <a:rPr lang="en-GB" sz="1200" dirty="0"/>
              <a:t>Management System</a:t>
            </a:r>
          </a:p>
          <a:p>
            <a:pPr>
              <a:buFont typeface="Wingdings" pitchFamily="2" charset="2"/>
              <a:buChar char="q"/>
            </a:pPr>
            <a:r>
              <a:rPr lang="en-GB" sz="1200" dirty="0" smtClean="0"/>
              <a:t> Centralised </a:t>
            </a:r>
            <a:r>
              <a:rPr lang="en-GB" sz="1200" dirty="0"/>
              <a:t>Dashboard </a:t>
            </a:r>
          </a:p>
          <a:p>
            <a:pPr>
              <a:buFont typeface="Wingdings" pitchFamily="2" charset="2"/>
              <a:buChar char="q"/>
            </a:pPr>
            <a:r>
              <a:rPr lang="en-GB" sz="1200" dirty="0" smtClean="0"/>
              <a:t> Dynamic </a:t>
            </a:r>
            <a:r>
              <a:rPr lang="en-GB" sz="1200" dirty="0"/>
              <a:t>Reporting and Data Analysis</a:t>
            </a:r>
          </a:p>
          <a:p>
            <a:pPr>
              <a:buFont typeface="Wingdings" pitchFamily="2" charset="2"/>
              <a:buChar char="q"/>
            </a:pPr>
            <a:r>
              <a:rPr lang="en-GB" sz="1200" dirty="0" smtClean="0"/>
              <a:t> Online/Offline </a:t>
            </a:r>
            <a:r>
              <a:rPr lang="en-GB" sz="1200" dirty="0"/>
              <a:t>Drug Distribution Counters</a:t>
            </a:r>
          </a:p>
          <a:p>
            <a:pPr>
              <a:buFont typeface="Wingdings" pitchFamily="2" charset="2"/>
              <a:buChar char="q"/>
            </a:pPr>
            <a:r>
              <a:rPr lang="en-US" sz="1200" dirty="0" smtClean="0"/>
              <a:t> GS1 </a:t>
            </a:r>
            <a:r>
              <a:rPr lang="en-US" sz="1200" dirty="0"/>
              <a:t>compliant barcode interface</a:t>
            </a:r>
          </a:p>
          <a:p>
            <a:pPr>
              <a:buFont typeface="Wingdings" pitchFamily="2" charset="2"/>
              <a:buChar char="q"/>
            </a:pPr>
            <a:r>
              <a:rPr lang="en-US" sz="1200" dirty="0" smtClean="0"/>
              <a:t> Integration </a:t>
            </a:r>
            <a:r>
              <a:rPr lang="en-US" sz="1200" dirty="0"/>
              <a:t>with payment gateway and SMS gateway</a:t>
            </a:r>
          </a:p>
          <a:p>
            <a:pPr>
              <a:buFont typeface="Wingdings" pitchFamily="2" charset="2"/>
              <a:buChar char="q"/>
            </a:pPr>
            <a:r>
              <a:rPr lang="en-US" sz="1200" dirty="0" smtClean="0"/>
              <a:t> Integration </a:t>
            </a:r>
            <a:r>
              <a:rPr lang="en-US" sz="1200" dirty="0"/>
              <a:t>with digital signature</a:t>
            </a:r>
            <a:endParaRPr lang="en-GB" sz="1200" dirty="0"/>
          </a:p>
          <a:p>
            <a:pPr>
              <a:buFont typeface="Wingdings" pitchFamily="2" charset="2"/>
              <a:buChar char="q"/>
            </a:pPr>
            <a:r>
              <a:rPr lang="en-US" sz="1200" dirty="0" smtClean="0"/>
              <a:t> Secured </a:t>
            </a:r>
            <a:r>
              <a:rPr lang="en-US" sz="1200" dirty="0"/>
              <a:t>and configurable architecture</a:t>
            </a:r>
            <a:endParaRPr lang="en-GB" sz="1200" dirty="0"/>
          </a:p>
        </p:txBody>
      </p:sp>
      <p:pic>
        <p:nvPicPr>
          <p:cNvPr id="13" name="Picture 12"/>
          <p:cNvPicPr/>
          <p:nvPr/>
        </p:nvPicPr>
        <p:blipFill>
          <a:blip r:embed="rId2">
            <a:extLst>
              <a:ext uri="{28A0092B-C50C-407E-A947-70E740481C1C}">
                <a14:useLocalDpi xmlns:a14="http://schemas.microsoft.com/office/drawing/2010/main" val="0"/>
              </a:ext>
            </a:extLst>
          </a:blip>
          <a:stretch>
            <a:fillRect/>
          </a:stretch>
        </p:blipFill>
        <p:spPr>
          <a:xfrm>
            <a:off x="6328782" y="1642617"/>
            <a:ext cx="5465870" cy="1448222"/>
          </a:xfrm>
          <a:prstGeom prst="rect">
            <a:avLst/>
          </a:prstGeom>
        </p:spPr>
      </p:pic>
      <p:sp>
        <p:nvSpPr>
          <p:cNvPr id="14" name="Title 3"/>
          <p:cNvSpPr txBox="1">
            <a:spLocks/>
          </p:cNvSpPr>
          <p:nvPr/>
        </p:nvSpPr>
        <p:spPr>
          <a:xfrm>
            <a:off x="314630" y="177420"/>
            <a:ext cx="11379200" cy="559559"/>
          </a:xfrm>
          <a:prstGeom prst="rect">
            <a:avLst/>
          </a:prstGeom>
        </p:spPr>
        <p:txBody>
          <a:bodyPr vert="horz" anchor="t">
            <a:noAutofit/>
          </a:bodyPr>
          <a:lstStyle>
            <a:lvl1pPr algn="ctr" rtl="0" eaLnBrk="1" latinLnBrk="0" hangingPunct="1">
              <a:spcBef>
                <a:spcPct val="0"/>
              </a:spcBef>
              <a:buNone/>
              <a:defRPr kumimoji="0" sz="4200" kern="1200">
                <a:solidFill>
                  <a:schemeClr val="accent1"/>
                </a:solidFill>
                <a:latin typeface="+mj-lt"/>
                <a:ea typeface="+mj-ea"/>
                <a:cs typeface="+mj-cs"/>
              </a:defRPr>
            </a:lvl1pPr>
          </a:lstStyle>
          <a:p>
            <a:pPr algn="l" defTabSz="914400"/>
            <a:r>
              <a:rPr lang="en-US" sz="3200" b="1" dirty="0">
                <a:solidFill>
                  <a:schemeClr val="accent5">
                    <a:lumMod val="75000"/>
                  </a:schemeClr>
                </a:solidFill>
              </a:rPr>
              <a:t>e-Aushadhi </a:t>
            </a:r>
            <a:r>
              <a:rPr lang="en-US" sz="1800" b="1" dirty="0">
                <a:solidFill>
                  <a:schemeClr val="accent5">
                    <a:lumMod val="75000"/>
                  </a:schemeClr>
                </a:solidFill>
              </a:rPr>
              <a:t>(Drug &amp; Vaccine Distribution Management System)</a:t>
            </a:r>
            <a:r>
              <a:rPr lang="en-US" sz="1800" b="1" i="1" baseline="30000" dirty="0"/>
              <a:t/>
            </a:r>
            <a:br>
              <a:rPr lang="en-US" sz="1800" b="1" i="1" baseline="30000" dirty="0"/>
            </a:br>
            <a:endParaRPr lang="en-US" sz="3200" b="1" dirty="0"/>
          </a:p>
        </p:txBody>
      </p:sp>
      <p:sp>
        <p:nvSpPr>
          <p:cNvPr id="5" name="Rectangle 4">
            <a:extLst>
              <a:ext uri="{FF2B5EF4-FFF2-40B4-BE49-F238E27FC236}">
                <a16:creationId xmlns:a16="http://schemas.microsoft.com/office/drawing/2014/main" id="{5EE9792A-925D-2C3F-4328-1D59BB8478CC}"/>
              </a:ext>
            </a:extLst>
          </p:cNvPr>
          <p:cNvSpPr/>
          <p:nvPr/>
        </p:nvSpPr>
        <p:spPr>
          <a:xfrm>
            <a:off x="460577" y="5809582"/>
            <a:ext cx="1845185" cy="276999"/>
          </a:xfrm>
          <a:prstGeom prst="rect">
            <a:avLst/>
          </a:prstGeom>
        </p:spPr>
        <p:txBody>
          <a:bodyPr wrap="none">
            <a:spAutoFit/>
          </a:bodyPr>
          <a:lstStyle/>
          <a:p>
            <a:r>
              <a:rPr lang="en-GB" sz="1200" dirty="0">
                <a:solidFill>
                  <a:srgbClr val="C00000"/>
                </a:solidFill>
                <a:latin typeface="Arial Black" pitchFamily="34" charset="0"/>
              </a:rPr>
              <a:t>IMPLEMENTATIONS</a:t>
            </a:r>
          </a:p>
        </p:txBody>
      </p:sp>
      <p:sp>
        <p:nvSpPr>
          <p:cNvPr id="15" name="TextBox 14">
            <a:extLst>
              <a:ext uri="{FF2B5EF4-FFF2-40B4-BE49-F238E27FC236}">
                <a16:creationId xmlns:a16="http://schemas.microsoft.com/office/drawing/2014/main" id="{45D84D4F-0BB0-A3B4-BF01-4B64F6DDDA6F}"/>
              </a:ext>
            </a:extLst>
          </p:cNvPr>
          <p:cNvSpPr txBox="1"/>
          <p:nvPr/>
        </p:nvSpPr>
        <p:spPr>
          <a:xfrm>
            <a:off x="439886" y="6042795"/>
            <a:ext cx="11572441" cy="710066"/>
          </a:xfrm>
          <a:prstGeom prst="rect">
            <a:avLst/>
          </a:prstGeom>
          <a:noFill/>
        </p:spPr>
        <p:txBody>
          <a:bodyPr wrap="square" rtlCol="0">
            <a:spAutoFit/>
          </a:bodyPr>
          <a:lstStyle/>
          <a:p>
            <a:pPr algn="just"/>
            <a:r>
              <a:rPr lang="en-GB" sz="1200" b="1" dirty="0">
                <a:solidFill>
                  <a:srgbClr val="C00000"/>
                </a:solidFill>
              </a:rPr>
              <a:t>STATES &amp; UT </a:t>
            </a:r>
            <a:r>
              <a:rPr lang="en-GB" sz="1200" b="1" dirty="0"/>
              <a:t>: Rajasthan | Gujarat | Telangana | Bihar | Madhya Pradesh | Maharashtra | Punjab | Andhra Pradesh | Uttar Pradesh | Uttarakhand |   Manipur | Himachal Pradesh | Jharkhand | Assam | Arunachal Pradesh | Mizoram | Nagaland | Odisha | Sikkim | </a:t>
            </a:r>
            <a:r>
              <a:rPr lang="en-GB" sz="1200" b="1" dirty="0">
                <a:solidFill>
                  <a:schemeClr val="accent2">
                    <a:lumMod val="75000"/>
                  </a:schemeClr>
                </a:solidFill>
              </a:rPr>
              <a:t>UT</a:t>
            </a:r>
            <a:r>
              <a:rPr lang="en-GB" sz="1200" b="1" dirty="0"/>
              <a:t> (J &amp; K | Puducherry | Ladakh  | Chandigarh | Lakshadweep ) | DIMS-AP |DIMS-TS</a:t>
            </a:r>
          </a:p>
          <a:p>
            <a:pPr algn="just">
              <a:lnSpc>
                <a:spcPct val="150000"/>
              </a:lnSpc>
            </a:pPr>
            <a:r>
              <a:rPr lang="en-GB" sz="1200" b="1" dirty="0">
                <a:solidFill>
                  <a:srgbClr val="C00000"/>
                </a:solidFill>
              </a:rPr>
              <a:t>NATIONAL PROGRAM :</a:t>
            </a:r>
            <a:r>
              <a:rPr lang="en-GB" sz="1200" b="1" dirty="0"/>
              <a:t> Central Dash Board-MoHFW |TB-MoHFW | FP-MoHFW | CMSS-MoHFW| MSO-</a:t>
            </a:r>
            <a:r>
              <a:rPr lang="en-GB" sz="1200" b="1" dirty="0" err="1"/>
              <a:t>MoHFW</a:t>
            </a:r>
            <a:r>
              <a:rPr lang="en-GB" sz="1200" b="1" dirty="0"/>
              <a:t> | NCVBDC-</a:t>
            </a:r>
            <a:r>
              <a:rPr lang="en-GB" sz="1200" b="1" dirty="0" err="1"/>
              <a:t>MoHFW</a:t>
            </a:r>
            <a:r>
              <a:rPr lang="en-GB" sz="1200" b="1" dirty="0"/>
              <a:t> | DGAFMS-MoD</a:t>
            </a:r>
          </a:p>
        </p:txBody>
      </p:sp>
      <p:pic>
        <p:nvPicPr>
          <p:cNvPr id="16" name="Picture 15" descr="Picture2.jpg"/>
          <p:cNvPicPr>
            <a:picLocks noChangeAspect="1"/>
          </p:cNvPicPr>
          <p:nvPr/>
        </p:nvPicPr>
        <p:blipFill>
          <a:blip r:embed="rId3"/>
          <a:stretch>
            <a:fillRect/>
          </a:stretch>
        </p:blipFill>
        <p:spPr>
          <a:xfrm>
            <a:off x="418946" y="1764492"/>
            <a:ext cx="2239201" cy="1024264"/>
          </a:xfrm>
          <a:prstGeom prst="rect">
            <a:avLst/>
          </a:prstGeom>
        </p:spPr>
      </p:pic>
      <p:pic>
        <p:nvPicPr>
          <p:cNvPr id="17" name="Picture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35569" y="1631723"/>
            <a:ext cx="3367519" cy="1206694"/>
          </a:xfrm>
          <a:prstGeom prst="rect">
            <a:avLst/>
          </a:prstGeom>
        </p:spPr>
      </p:pic>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3395" y="2875046"/>
            <a:ext cx="5709692" cy="2966074"/>
          </a:xfrm>
          <a:prstGeom prst="rect">
            <a:avLst/>
          </a:prstGeom>
        </p:spPr>
      </p:pic>
    </p:spTree>
    <p:extLst>
      <p:ext uri="{BB962C8B-B14F-4D97-AF65-F5344CB8AC3E}">
        <p14:creationId xmlns:p14="http://schemas.microsoft.com/office/powerpoint/2010/main" val="192611465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6299278" y="3224111"/>
            <a:ext cx="5567409" cy="232608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Box 6"/>
          <p:cNvSpPr txBox="1"/>
          <p:nvPr/>
        </p:nvSpPr>
        <p:spPr>
          <a:xfrm>
            <a:off x="342602" y="731151"/>
            <a:ext cx="11375136" cy="803040"/>
          </a:xfrm>
          <a:prstGeom prst="rect">
            <a:avLst/>
          </a:prstGeom>
          <a:noFill/>
        </p:spPr>
        <p:txBody>
          <a:bodyPr wrap="square" rtlCol="0">
            <a:spAutoFit/>
          </a:bodyPr>
          <a:lstStyle/>
          <a:p>
            <a:pPr algn="just">
              <a:lnSpc>
                <a:spcPts val="1900"/>
              </a:lnSpc>
              <a:spcBef>
                <a:spcPts val="600"/>
              </a:spcBef>
              <a:spcAft>
                <a:spcPts val="600"/>
              </a:spcAft>
            </a:pPr>
            <a:r>
              <a:rPr lang="en-US" sz="1200" b="1" dirty="0">
                <a:solidFill>
                  <a:srgbClr val="C00000"/>
                </a:solidFill>
              </a:rPr>
              <a:t>e-AUSHADHI </a:t>
            </a:r>
            <a:r>
              <a:rPr lang="en-GB" sz="1200" b="1" dirty="0"/>
              <a:t>is a web based Supply Chain Management System that deals in purchase, supply, distribution and inventory management of various drugs, sutures, surgical and consumable items by linking various Regional/ District Drug warehouses (DWH), District Hospitals (DH), their sub stores like Community Health Centre (CHC), Primary Health Centre (PHC) and Sub Centres. The system also has the functionality for distribution of drugs to patients, thus enabling tracking of consumption till last mile.</a:t>
            </a:r>
          </a:p>
        </p:txBody>
      </p:sp>
      <p:sp>
        <p:nvSpPr>
          <p:cNvPr id="8" name="TextBox 7"/>
          <p:cNvSpPr txBox="1"/>
          <p:nvPr/>
        </p:nvSpPr>
        <p:spPr>
          <a:xfrm>
            <a:off x="6513729" y="3385701"/>
            <a:ext cx="3956569" cy="276999"/>
          </a:xfrm>
          <a:prstGeom prst="rect">
            <a:avLst/>
          </a:prstGeom>
          <a:noFill/>
        </p:spPr>
        <p:txBody>
          <a:bodyPr wrap="square" rtlCol="0">
            <a:spAutoFit/>
          </a:bodyPr>
          <a:lstStyle/>
          <a:p>
            <a:r>
              <a:rPr lang="en-GB" sz="1200" dirty="0">
                <a:solidFill>
                  <a:srgbClr val="C00000"/>
                </a:solidFill>
                <a:latin typeface="Arial Black" pitchFamily="34" charset="0"/>
              </a:rPr>
              <a:t>KEY FEATURES</a:t>
            </a:r>
          </a:p>
        </p:txBody>
      </p:sp>
      <p:sp>
        <p:nvSpPr>
          <p:cNvPr id="11" name="TextBox 10"/>
          <p:cNvSpPr txBox="1"/>
          <p:nvPr/>
        </p:nvSpPr>
        <p:spPr>
          <a:xfrm>
            <a:off x="6513729" y="3669084"/>
            <a:ext cx="5044626" cy="1754326"/>
          </a:xfrm>
          <a:prstGeom prst="rect">
            <a:avLst/>
          </a:prstGeom>
          <a:noFill/>
        </p:spPr>
        <p:txBody>
          <a:bodyPr wrap="square" rtlCol="0">
            <a:spAutoFit/>
          </a:bodyPr>
          <a:lstStyle/>
          <a:p>
            <a:pPr>
              <a:buFont typeface="Wingdings" pitchFamily="2" charset="2"/>
              <a:buChar char="q"/>
            </a:pPr>
            <a:r>
              <a:rPr lang="en-US" sz="1200" dirty="0" smtClean="0"/>
              <a:t> Web </a:t>
            </a:r>
            <a:r>
              <a:rPr lang="en-US" sz="1200" dirty="0"/>
              <a:t>based on Open Source platform</a:t>
            </a:r>
          </a:p>
          <a:p>
            <a:pPr>
              <a:buFont typeface="Wingdings" pitchFamily="2" charset="2"/>
              <a:buChar char="q"/>
            </a:pPr>
            <a:r>
              <a:rPr lang="en-GB" sz="1200" dirty="0" smtClean="0"/>
              <a:t> Alert </a:t>
            </a:r>
            <a:r>
              <a:rPr lang="en-GB" sz="1200" dirty="0"/>
              <a:t>Management System</a:t>
            </a:r>
          </a:p>
          <a:p>
            <a:pPr>
              <a:buFont typeface="Wingdings" pitchFamily="2" charset="2"/>
              <a:buChar char="q"/>
            </a:pPr>
            <a:r>
              <a:rPr lang="en-GB" sz="1200" dirty="0" smtClean="0"/>
              <a:t> Centralised </a:t>
            </a:r>
            <a:r>
              <a:rPr lang="en-GB" sz="1200" dirty="0"/>
              <a:t>Dashboard </a:t>
            </a:r>
          </a:p>
          <a:p>
            <a:pPr>
              <a:buFont typeface="Wingdings" pitchFamily="2" charset="2"/>
              <a:buChar char="q"/>
            </a:pPr>
            <a:r>
              <a:rPr lang="en-GB" sz="1200" dirty="0" smtClean="0"/>
              <a:t> Dynamic </a:t>
            </a:r>
            <a:r>
              <a:rPr lang="en-GB" sz="1200" dirty="0"/>
              <a:t>Reporting and Data Analysis</a:t>
            </a:r>
          </a:p>
          <a:p>
            <a:pPr>
              <a:buFont typeface="Wingdings" pitchFamily="2" charset="2"/>
              <a:buChar char="q"/>
            </a:pPr>
            <a:r>
              <a:rPr lang="en-GB" sz="1200" dirty="0" smtClean="0"/>
              <a:t> Online/Offline </a:t>
            </a:r>
            <a:r>
              <a:rPr lang="en-GB" sz="1200" dirty="0"/>
              <a:t>Drug Distribution Counters</a:t>
            </a:r>
          </a:p>
          <a:p>
            <a:pPr>
              <a:buFont typeface="Wingdings" pitchFamily="2" charset="2"/>
              <a:buChar char="q"/>
            </a:pPr>
            <a:r>
              <a:rPr lang="en-US" sz="1200" dirty="0" smtClean="0"/>
              <a:t> GS1 </a:t>
            </a:r>
            <a:r>
              <a:rPr lang="en-US" sz="1200" dirty="0"/>
              <a:t>compliant barcode interface</a:t>
            </a:r>
          </a:p>
          <a:p>
            <a:pPr>
              <a:buFont typeface="Wingdings" pitchFamily="2" charset="2"/>
              <a:buChar char="q"/>
            </a:pPr>
            <a:r>
              <a:rPr lang="en-US" sz="1200" dirty="0" smtClean="0"/>
              <a:t> Integration </a:t>
            </a:r>
            <a:r>
              <a:rPr lang="en-US" sz="1200" dirty="0"/>
              <a:t>with payment gateway and SMS gateway</a:t>
            </a:r>
          </a:p>
          <a:p>
            <a:pPr>
              <a:buFont typeface="Wingdings" pitchFamily="2" charset="2"/>
              <a:buChar char="q"/>
            </a:pPr>
            <a:r>
              <a:rPr lang="en-US" sz="1200" dirty="0" smtClean="0"/>
              <a:t> Integration </a:t>
            </a:r>
            <a:r>
              <a:rPr lang="en-US" sz="1200" dirty="0"/>
              <a:t>with digital signature</a:t>
            </a:r>
            <a:endParaRPr lang="en-GB" sz="1200" dirty="0"/>
          </a:p>
          <a:p>
            <a:pPr>
              <a:buFont typeface="Wingdings" pitchFamily="2" charset="2"/>
              <a:buChar char="q"/>
            </a:pPr>
            <a:r>
              <a:rPr lang="en-US" sz="1200" dirty="0" smtClean="0"/>
              <a:t> Secured </a:t>
            </a:r>
            <a:r>
              <a:rPr lang="en-US" sz="1200" dirty="0"/>
              <a:t>and configurable architecture</a:t>
            </a:r>
            <a:endParaRPr lang="en-GB" sz="1200" dirty="0"/>
          </a:p>
        </p:txBody>
      </p:sp>
      <p:pic>
        <p:nvPicPr>
          <p:cNvPr id="13" name="Picture 12"/>
          <p:cNvPicPr/>
          <p:nvPr/>
        </p:nvPicPr>
        <p:blipFill>
          <a:blip r:embed="rId2">
            <a:extLst>
              <a:ext uri="{28A0092B-C50C-407E-A947-70E740481C1C}">
                <a14:useLocalDpi xmlns:a14="http://schemas.microsoft.com/office/drawing/2010/main" val="0"/>
              </a:ext>
            </a:extLst>
          </a:blip>
          <a:stretch>
            <a:fillRect/>
          </a:stretch>
        </p:blipFill>
        <p:spPr>
          <a:xfrm>
            <a:off x="6328782" y="1642617"/>
            <a:ext cx="5465870" cy="1448222"/>
          </a:xfrm>
          <a:prstGeom prst="rect">
            <a:avLst/>
          </a:prstGeom>
        </p:spPr>
      </p:pic>
      <p:sp>
        <p:nvSpPr>
          <p:cNvPr id="14" name="Title 3"/>
          <p:cNvSpPr txBox="1">
            <a:spLocks/>
          </p:cNvSpPr>
          <p:nvPr/>
        </p:nvSpPr>
        <p:spPr>
          <a:xfrm>
            <a:off x="314630" y="177420"/>
            <a:ext cx="11379200" cy="559559"/>
          </a:xfrm>
          <a:prstGeom prst="rect">
            <a:avLst/>
          </a:prstGeom>
        </p:spPr>
        <p:txBody>
          <a:bodyPr vert="horz" anchor="t">
            <a:noAutofit/>
          </a:bodyPr>
          <a:lstStyle>
            <a:lvl1pPr algn="ctr" rtl="0" eaLnBrk="1" latinLnBrk="0" hangingPunct="1">
              <a:spcBef>
                <a:spcPct val="0"/>
              </a:spcBef>
              <a:buNone/>
              <a:defRPr kumimoji="0" sz="4200" kern="1200">
                <a:solidFill>
                  <a:schemeClr val="accent1"/>
                </a:solidFill>
                <a:latin typeface="+mj-lt"/>
                <a:ea typeface="+mj-ea"/>
                <a:cs typeface="+mj-cs"/>
              </a:defRPr>
            </a:lvl1pPr>
          </a:lstStyle>
          <a:p>
            <a:pPr algn="l" defTabSz="914400"/>
            <a:r>
              <a:rPr lang="en-US" sz="3200" b="1" dirty="0">
                <a:solidFill>
                  <a:schemeClr val="accent5">
                    <a:lumMod val="75000"/>
                  </a:schemeClr>
                </a:solidFill>
              </a:rPr>
              <a:t>e-Aushadhi </a:t>
            </a:r>
            <a:r>
              <a:rPr lang="en-US" sz="1800" b="1" dirty="0">
                <a:solidFill>
                  <a:schemeClr val="accent5">
                    <a:lumMod val="75000"/>
                  </a:schemeClr>
                </a:solidFill>
              </a:rPr>
              <a:t>(Drug &amp; Vaccine Distribution Management System)</a:t>
            </a:r>
            <a:r>
              <a:rPr lang="en-US" sz="1800" b="1" i="1" baseline="30000" dirty="0"/>
              <a:t/>
            </a:r>
            <a:br>
              <a:rPr lang="en-US" sz="1800" b="1" i="1" baseline="30000" dirty="0"/>
            </a:br>
            <a:endParaRPr lang="en-US" sz="3200" b="1" dirty="0"/>
          </a:p>
        </p:txBody>
      </p:sp>
      <p:sp>
        <p:nvSpPr>
          <p:cNvPr id="5" name="Rectangle 4">
            <a:extLst>
              <a:ext uri="{FF2B5EF4-FFF2-40B4-BE49-F238E27FC236}">
                <a16:creationId xmlns:a16="http://schemas.microsoft.com/office/drawing/2014/main" id="{5EE9792A-925D-2C3F-4328-1D59BB8478CC}"/>
              </a:ext>
            </a:extLst>
          </p:cNvPr>
          <p:cNvSpPr/>
          <p:nvPr/>
        </p:nvSpPr>
        <p:spPr>
          <a:xfrm>
            <a:off x="460577" y="5809582"/>
            <a:ext cx="1845185" cy="276999"/>
          </a:xfrm>
          <a:prstGeom prst="rect">
            <a:avLst/>
          </a:prstGeom>
        </p:spPr>
        <p:txBody>
          <a:bodyPr wrap="none">
            <a:spAutoFit/>
          </a:bodyPr>
          <a:lstStyle/>
          <a:p>
            <a:r>
              <a:rPr lang="en-GB" sz="1200" dirty="0">
                <a:solidFill>
                  <a:srgbClr val="C00000"/>
                </a:solidFill>
                <a:latin typeface="Arial Black" pitchFamily="34" charset="0"/>
              </a:rPr>
              <a:t>IMPLEMENTATIONS</a:t>
            </a:r>
          </a:p>
        </p:txBody>
      </p:sp>
      <p:sp>
        <p:nvSpPr>
          <p:cNvPr id="15" name="TextBox 14">
            <a:extLst>
              <a:ext uri="{FF2B5EF4-FFF2-40B4-BE49-F238E27FC236}">
                <a16:creationId xmlns:a16="http://schemas.microsoft.com/office/drawing/2014/main" id="{45D84D4F-0BB0-A3B4-BF01-4B64F6DDDA6F}"/>
              </a:ext>
            </a:extLst>
          </p:cNvPr>
          <p:cNvSpPr txBox="1"/>
          <p:nvPr/>
        </p:nvSpPr>
        <p:spPr>
          <a:xfrm>
            <a:off x="439886" y="6042795"/>
            <a:ext cx="11572441" cy="710066"/>
          </a:xfrm>
          <a:prstGeom prst="rect">
            <a:avLst/>
          </a:prstGeom>
          <a:noFill/>
        </p:spPr>
        <p:txBody>
          <a:bodyPr wrap="square" rtlCol="0">
            <a:spAutoFit/>
          </a:bodyPr>
          <a:lstStyle/>
          <a:p>
            <a:pPr algn="just"/>
            <a:r>
              <a:rPr lang="en-GB" sz="1200" b="1" dirty="0">
                <a:solidFill>
                  <a:srgbClr val="C00000"/>
                </a:solidFill>
              </a:rPr>
              <a:t>STATES &amp; UT </a:t>
            </a:r>
            <a:r>
              <a:rPr lang="en-GB" sz="1200" b="1" dirty="0"/>
              <a:t>: Rajasthan | Gujarat | Telangana | Bihar | Madhya Pradesh | Maharashtra | Punjab | Andhra Pradesh | Uttar Pradesh | Uttarakhand |   Manipur | Himachal Pradesh | Jharkhand | Assam | Arunachal Pradesh | Mizoram | Nagaland | Odisha | Sikkim | </a:t>
            </a:r>
            <a:r>
              <a:rPr lang="en-GB" sz="1200" b="1" dirty="0">
                <a:solidFill>
                  <a:schemeClr val="accent2">
                    <a:lumMod val="75000"/>
                  </a:schemeClr>
                </a:solidFill>
              </a:rPr>
              <a:t>UT</a:t>
            </a:r>
            <a:r>
              <a:rPr lang="en-GB" sz="1200" b="1" dirty="0"/>
              <a:t> (J &amp; K | Puducherry | Ladakh  | Chandigarh | Lakshadweep ) | DIMS-AP |DIMS-TS</a:t>
            </a:r>
          </a:p>
          <a:p>
            <a:pPr algn="just">
              <a:lnSpc>
                <a:spcPct val="150000"/>
              </a:lnSpc>
            </a:pPr>
            <a:r>
              <a:rPr lang="en-GB" sz="1200" b="1" dirty="0">
                <a:solidFill>
                  <a:srgbClr val="C00000"/>
                </a:solidFill>
              </a:rPr>
              <a:t>NATIONAL PROGRAM :</a:t>
            </a:r>
            <a:r>
              <a:rPr lang="en-GB" sz="1200" b="1" dirty="0"/>
              <a:t> Central Dash Board-MoHFW |TB-MoHFW | FP-MoHFW | CMSS-MoHFW| MSO-</a:t>
            </a:r>
            <a:r>
              <a:rPr lang="en-GB" sz="1200" b="1" dirty="0" err="1"/>
              <a:t>MoHFW</a:t>
            </a:r>
            <a:r>
              <a:rPr lang="en-GB" sz="1200" b="1" dirty="0"/>
              <a:t> | NCVBDC-</a:t>
            </a:r>
            <a:r>
              <a:rPr lang="en-GB" sz="1200" b="1" dirty="0" err="1"/>
              <a:t>MoHFW</a:t>
            </a:r>
            <a:r>
              <a:rPr lang="en-GB" sz="1200" b="1" dirty="0"/>
              <a:t> | DGAFMS-MoD</a:t>
            </a:r>
          </a:p>
        </p:txBody>
      </p:sp>
      <p:pic>
        <p:nvPicPr>
          <p:cNvPr id="16" name="Picture 15" descr="Picture2.jpg"/>
          <p:cNvPicPr>
            <a:picLocks noChangeAspect="1"/>
          </p:cNvPicPr>
          <p:nvPr/>
        </p:nvPicPr>
        <p:blipFill>
          <a:blip r:embed="rId3"/>
          <a:stretch>
            <a:fillRect/>
          </a:stretch>
        </p:blipFill>
        <p:spPr>
          <a:xfrm>
            <a:off x="418946" y="1764492"/>
            <a:ext cx="2239201" cy="1024264"/>
          </a:xfrm>
          <a:prstGeom prst="rect">
            <a:avLst/>
          </a:prstGeom>
        </p:spPr>
      </p:pic>
      <p:pic>
        <p:nvPicPr>
          <p:cNvPr id="17" name="Picture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35569" y="1631723"/>
            <a:ext cx="3367519" cy="1206694"/>
          </a:xfrm>
          <a:prstGeom prst="rect">
            <a:avLst/>
          </a:prstGeom>
        </p:spPr>
      </p:pic>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1117" y="2892101"/>
            <a:ext cx="5178057" cy="2920656"/>
          </a:xfrm>
          <a:prstGeom prst="rect">
            <a:avLst/>
          </a:prstGeom>
        </p:spPr>
      </p:pic>
    </p:spTree>
    <p:extLst>
      <p:ext uri="{BB962C8B-B14F-4D97-AF65-F5344CB8AC3E}">
        <p14:creationId xmlns:p14="http://schemas.microsoft.com/office/powerpoint/2010/main" val="391639088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210</TotalTime>
  <Words>462</Words>
  <Application>Microsoft Office PowerPoint</Application>
  <PresentationFormat>Widescreen</PresentationFormat>
  <Paragraphs>30</Paragraphs>
  <Slides>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Arial</vt:lpstr>
      <vt:lpstr>Arial Black</vt:lpstr>
      <vt:lpstr>Calibri</vt:lpstr>
      <vt:lpstr>Calibri Light</vt:lpstr>
      <vt:lpstr>Wingdings</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Mansi Aggarwal</cp:lastModifiedBy>
  <cp:revision>31</cp:revision>
  <dcterms:created xsi:type="dcterms:W3CDTF">2026-03-11T06:47:14Z</dcterms:created>
  <dcterms:modified xsi:type="dcterms:W3CDTF">2026-03-11T10:33:43Z</dcterms:modified>
</cp:coreProperties>
</file>
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
  </p:notesMasterIdLst>
  <p:sldIdLst>
    <p:sldId id="310"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FEFFD"/>
    <a:srgbClr val="A7E0FB"/>
    <a:srgbClr val="AFE5FF"/>
    <a:srgbClr val="B1E1FF"/>
    <a:srgbClr val="C4EBFD"/>
    <a:srgbClr val="89CF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756"/>
    <p:restoredTop sz="95878"/>
  </p:normalViewPr>
  <p:slideViewPr>
    <p:cSldViewPr snapToGrid="0">
      <p:cViewPr varScale="1">
        <p:scale>
          <a:sx n="90" d="100"/>
          <a:sy n="90" d="100"/>
        </p:scale>
        <p:origin x="348" y="66"/>
      </p:cViewPr>
      <p:guideLst>
        <p:guide orient="horz" pos="2160"/>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35E8FE-DEFC-B14C-BD4C-2302B518C624}" type="datetimeFigureOut">
              <a:rPr lang="en-US" smtClean="0"/>
              <a:t>2/17/2025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75DBB9-F7B4-E24D-8283-FE205F362B6B}" type="slidenum">
              <a:rPr lang="en-US" smtClean="0"/>
              <a:t>‹#›</a:t>
            </a:fld>
            <a:endParaRPr lang="en-US"/>
          </a:p>
        </p:txBody>
      </p:sp>
    </p:spTree>
    <p:extLst>
      <p:ext uri="{BB962C8B-B14F-4D97-AF65-F5344CB8AC3E}">
        <p14:creationId xmlns:p14="http://schemas.microsoft.com/office/powerpoint/2010/main" val="22485680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D5FAD8-0A0F-EAEF-E502-365DA8861C4D}"/>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3CE13ECA-0E4C-9350-1F23-D2F1E357053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32F1ADAF-75AA-662D-95A8-BE080D838DC5}"/>
              </a:ext>
            </a:extLst>
          </p:cNvPr>
          <p:cNvSpPr>
            <a:spLocks noGrp="1"/>
          </p:cNvSpPr>
          <p:nvPr>
            <p:ph type="dt" sz="half" idx="10"/>
          </p:nvPr>
        </p:nvSpPr>
        <p:spPr/>
        <p:txBody>
          <a:bodyPr/>
          <a:lstStyle/>
          <a:p>
            <a:fld id="{A043B7A0-A299-734C-B295-9DB506BF8814}" type="datetime1">
              <a:rPr lang="en-IN" smtClean="0"/>
              <a:t>17-02-2025</a:t>
            </a:fld>
            <a:endParaRPr lang="en-US"/>
          </a:p>
        </p:txBody>
      </p:sp>
      <p:sp>
        <p:nvSpPr>
          <p:cNvPr id="5" name="Footer Placeholder 4">
            <a:extLst>
              <a:ext uri="{FF2B5EF4-FFF2-40B4-BE49-F238E27FC236}">
                <a16:creationId xmlns:a16="http://schemas.microsoft.com/office/drawing/2014/main" id="{83E536F9-ADEB-3713-AB8B-2AEBBC35143D}"/>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34A4A83D-0393-E926-203B-9D1897EDDB91}"/>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5518600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B83BD-A19E-B1AA-F709-85B8D83A8A7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01E3080E-A345-E834-BC8B-0C4D62B183D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2917364-FCF1-8933-1916-6415A7D2AE6B}"/>
              </a:ext>
            </a:extLst>
          </p:cNvPr>
          <p:cNvSpPr>
            <a:spLocks noGrp="1"/>
          </p:cNvSpPr>
          <p:nvPr>
            <p:ph type="dt" sz="half" idx="10"/>
          </p:nvPr>
        </p:nvSpPr>
        <p:spPr/>
        <p:txBody>
          <a:bodyPr/>
          <a:lstStyle/>
          <a:p>
            <a:fld id="{578CA80D-3C89-BB44-BB56-56E87FA6BCFC}" type="datetime1">
              <a:rPr lang="en-IN" smtClean="0"/>
              <a:t>17-02-2025</a:t>
            </a:fld>
            <a:endParaRPr lang="en-US"/>
          </a:p>
        </p:txBody>
      </p:sp>
      <p:sp>
        <p:nvSpPr>
          <p:cNvPr id="5" name="Footer Placeholder 4">
            <a:extLst>
              <a:ext uri="{FF2B5EF4-FFF2-40B4-BE49-F238E27FC236}">
                <a16:creationId xmlns:a16="http://schemas.microsoft.com/office/drawing/2014/main" id="{53EEF229-FC74-06C3-284A-2FE8B24AFBE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DC7140A1-DA20-23D7-583D-77B02AB49378}"/>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084410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AD7289-C39A-B374-E40A-BEE1FA73512F}"/>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A8B06552-6064-4C9C-23E6-1BE980F542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C6F81321-5A9E-2F40-2B6C-C18D8D2156CD}"/>
              </a:ext>
            </a:extLst>
          </p:cNvPr>
          <p:cNvSpPr>
            <a:spLocks noGrp="1"/>
          </p:cNvSpPr>
          <p:nvPr>
            <p:ph type="dt" sz="half" idx="10"/>
          </p:nvPr>
        </p:nvSpPr>
        <p:spPr/>
        <p:txBody>
          <a:bodyPr/>
          <a:lstStyle/>
          <a:p>
            <a:fld id="{E9B6AF31-7FF2-9442-9521-EB8E46657EEF}" type="datetime1">
              <a:rPr lang="en-IN" smtClean="0"/>
              <a:t>17-02-2025</a:t>
            </a:fld>
            <a:endParaRPr lang="en-US"/>
          </a:p>
        </p:txBody>
      </p:sp>
      <p:sp>
        <p:nvSpPr>
          <p:cNvPr id="5" name="Footer Placeholder 4">
            <a:extLst>
              <a:ext uri="{FF2B5EF4-FFF2-40B4-BE49-F238E27FC236}">
                <a16:creationId xmlns:a16="http://schemas.microsoft.com/office/drawing/2014/main" id="{020D3FDE-A05D-AFCB-831C-457386072F0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CAC87D45-26D1-385D-9263-B8D46F00DE2B}"/>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1041868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48EB08-4EE5-ED13-04BB-5B7F17B02638}"/>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1C484D4-2B0A-FE46-E652-808FC268565D}"/>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E58C5084-A4A6-23F2-BC91-341D30C2C14F}"/>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37BE4F5-5D16-D116-8802-6AFE462F1B19}"/>
              </a:ext>
            </a:extLst>
          </p:cNvPr>
          <p:cNvSpPr>
            <a:spLocks noGrp="1"/>
          </p:cNvSpPr>
          <p:nvPr>
            <p:ph type="dt" sz="half" idx="10"/>
          </p:nvPr>
        </p:nvSpPr>
        <p:spPr/>
        <p:txBody>
          <a:bodyPr/>
          <a:lstStyle/>
          <a:p>
            <a:fld id="{7844D7A8-5D4F-E14C-B44E-79EB02D08F43}" type="datetime1">
              <a:rPr lang="en-IN" smtClean="0"/>
              <a:t>17-02-2025</a:t>
            </a:fld>
            <a:endParaRPr lang="en-US"/>
          </a:p>
        </p:txBody>
      </p:sp>
      <p:sp>
        <p:nvSpPr>
          <p:cNvPr id="6" name="Footer Placeholder 5">
            <a:extLst>
              <a:ext uri="{FF2B5EF4-FFF2-40B4-BE49-F238E27FC236}">
                <a16:creationId xmlns:a16="http://schemas.microsoft.com/office/drawing/2014/main" id="{6A9AC7CD-C466-D787-BE6E-0DE5C1B19037}"/>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0B50E1CE-E609-FA24-EB7F-4AFFF27DF7AD}"/>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3496326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212AD-5F44-2038-F5CF-799C069A62C4}"/>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1C4A86F-E277-E6BB-2908-6369EBD1376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2BE7A918-0EB7-D817-DE29-0AA503756D5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E2ED17D-D54E-7A0A-52AA-16FA43B0D7C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16ED235-A93C-5A68-5ABB-3F7C2BE298C1}"/>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5B732EE1-8ED6-42B9-AB6A-EEBAECFE9997}"/>
              </a:ext>
            </a:extLst>
          </p:cNvPr>
          <p:cNvSpPr>
            <a:spLocks noGrp="1"/>
          </p:cNvSpPr>
          <p:nvPr>
            <p:ph type="dt" sz="half" idx="10"/>
          </p:nvPr>
        </p:nvSpPr>
        <p:spPr/>
        <p:txBody>
          <a:bodyPr/>
          <a:lstStyle/>
          <a:p>
            <a:fld id="{AA7AB61B-E009-D148-8383-664390B50A03}" type="datetime1">
              <a:rPr lang="en-IN" smtClean="0"/>
              <a:t>17-02-2025</a:t>
            </a:fld>
            <a:endParaRPr lang="en-US"/>
          </a:p>
        </p:txBody>
      </p:sp>
      <p:sp>
        <p:nvSpPr>
          <p:cNvPr id="8" name="Footer Placeholder 7">
            <a:extLst>
              <a:ext uri="{FF2B5EF4-FFF2-40B4-BE49-F238E27FC236}">
                <a16:creationId xmlns:a16="http://schemas.microsoft.com/office/drawing/2014/main" id="{46F937CB-0CF9-43C4-8A07-EFF87CCD33D4}"/>
              </a:ext>
            </a:extLst>
          </p:cNvPr>
          <p:cNvSpPr>
            <a:spLocks noGrp="1"/>
          </p:cNvSpPr>
          <p:nvPr>
            <p:ph type="ftr" sz="quarter" idx="11"/>
          </p:nvPr>
        </p:nvSpPr>
        <p:spPr/>
        <p:txBody>
          <a:bodyPr/>
          <a:lstStyle/>
          <a:p>
            <a:r>
              <a:rPr lang="en-US"/>
              <a:t>Health Informatics Group, CDAC Noida </a:t>
            </a:r>
          </a:p>
        </p:txBody>
      </p:sp>
      <p:sp>
        <p:nvSpPr>
          <p:cNvPr id="9" name="Slide Number Placeholder 8">
            <a:extLst>
              <a:ext uri="{FF2B5EF4-FFF2-40B4-BE49-F238E27FC236}">
                <a16:creationId xmlns:a16="http://schemas.microsoft.com/office/drawing/2014/main" id="{F2210938-74C5-6634-CABE-D517D70BD85F}"/>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686726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2970E-F2DD-DC75-E44F-EBA7D019D884}"/>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9B12589-FF8E-B072-0800-FEA942B25C00}"/>
              </a:ext>
            </a:extLst>
          </p:cNvPr>
          <p:cNvSpPr>
            <a:spLocks noGrp="1"/>
          </p:cNvSpPr>
          <p:nvPr>
            <p:ph type="dt" sz="half" idx="10"/>
          </p:nvPr>
        </p:nvSpPr>
        <p:spPr/>
        <p:txBody>
          <a:bodyPr/>
          <a:lstStyle/>
          <a:p>
            <a:fld id="{A6CDE5A4-85E9-A845-8F8E-525211654FD4}" type="datetime1">
              <a:rPr lang="en-IN" smtClean="0"/>
              <a:t>17-02-2025</a:t>
            </a:fld>
            <a:endParaRPr lang="en-US"/>
          </a:p>
        </p:txBody>
      </p:sp>
      <p:sp>
        <p:nvSpPr>
          <p:cNvPr id="4" name="Footer Placeholder 3">
            <a:extLst>
              <a:ext uri="{FF2B5EF4-FFF2-40B4-BE49-F238E27FC236}">
                <a16:creationId xmlns:a16="http://schemas.microsoft.com/office/drawing/2014/main" id="{7FDFABF6-E74C-3084-CC57-5B3284CBE4F6}"/>
              </a:ext>
            </a:extLst>
          </p:cNvPr>
          <p:cNvSpPr>
            <a:spLocks noGrp="1"/>
          </p:cNvSpPr>
          <p:nvPr>
            <p:ph type="ftr" sz="quarter" idx="11"/>
          </p:nvPr>
        </p:nvSpPr>
        <p:spPr/>
        <p:txBody>
          <a:bodyPr/>
          <a:lstStyle/>
          <a:p>
            <a:r>
              <a:rPr lang="en-US"/>
              <a:t>Health Informatics Group, CDAC Noida </a:t>
            </a:r>
          </a:p>
        </p:txBody>
      </p:sp>
      <p:sp>
        <p:nvSpPr>
          <p:cNvPr id="5" name="Slide Number Placeholder 4">
            <a:extLst>
              <a:ext uri="{FF2B5EF4-FFF2-40B4-BE49-F238E27FC236}">
                <a16:creationId xmlns:a16="http://schemas.microsoft.com/office/drawing/2014/main" id="{9A3CA388-23A0-0C31-C5DC-9941E1951D12}"/>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099712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1279289-4AE3-F9A9-C838-091049E45E1F}"/>
              </a:ext>
            </a:extLst>
          </p:cNvPr>
          <p:cNvSpPr>
            <a:spLocks noGrp="1"/>
          </p:cNvSpPr>
          <p:nvPr>
            <p:ph type="dt" sz="half" idx="10"/>
          </p:nvPr>
        </p:nvSpPr>
        <p:spPr/>
        <p:txBody>
          <a:bodyPr/>
          <a:lstStyle/>
          <a:p>
            <a:fld id="{59541151-D166-0F41-9313-B07DE506B97B}" type="datetime1">
              <a:rPr lang="en-IN" smtClean="0"/>
              <a:t>17-02-2025</a:t>
            </a:fld>
            <a:endParaRPr lang="en-US"/>
          </a:p>
        </p:txBody>
      </p:sp>
      <p:sp>
        <p:nvSpPr>
          <p:cNvPr id="3" name="Footer Placeholder 2">
            <a:extLst>
              <a:ext uri="{FF2B5EF4-FFF2-40B4-BE49-F238E27FC236}">
                <a16:creationId xmlns:a16="http://schemas.microsoft.com/office/drawing/2014/main" id="{235B22C6-74D5-4CC0-F7A9-09F9E497ACAB}"/>
              </a:ext>
            </a:extLst>
          </p:cNvPr>
          <p:cNvSpPr>
            <a:spLocks noGrp="1"/>
          </p:cNvSpPr>
          <p:nvPr>
            <p:ph type="ftr" sz="quarter" idx="11"/>
          </p:nvPr>
        </p:nvSpPr>
        <p:spPr/>
        <p:txBody>
          <a:bodyPr/>
          <a:lstStyle/>
          <a:p>
            <a:r>
              <a:rPr lang="en-US"/>
              <a:t>Health Informatics Group, CDAC Noida </a:t>
            </a:r>
          </a:p>
        </p:txBody>
      </p:sp>
      <p:sp>
        <p:nvSpPr>
          <p:cNvPr id="4" name="Slide Number Placeholder 3">
            <a:extLst>
              <a:ext uri="{FF2B5EF4-FFF2-40B4-BE49-F238E27FC236}">
                <a16:creationId xmlns:a16="http://schemas.microsoft.com/office/drawing/2014/main" id="{48AD07FA-A459-37A1-DD62-46D2C88CF355}"/>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6829443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6B5E7E-405D-9444-3FFC-FE59A8F13A4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90C92A2E-CE6D-7B77-3E96-B46CCFF1CA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E849451B-C0E6-83A7-4CD9-5DE8A6DD7A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35B187-473E-E88C-A9F7-DC4C77BF8286}"/>
              </a:ext>
            </a:extLst>
          </p:cNvPr>
          <p:cNvSpPr>
            <a:spLocks noGrp="1"/>
          </p:cNvSpPr>
          <p:nvPr>
            <p:ph type="dt" sz="half" idx="10"/>
          </p:nvPr>
        </p:nvSpPr>
        <p:spPr/>
        <p:txBody>
          <a:bodyPr/>
          <a:lstStyle/>
          <a:p>
            <a:fld id="{9C00EE39-3323-004C-8960-5A9D45CB2C6C}" type="datetime1">
              <a:rPr lang="en-IN" smtClean="0"/>
              <a:t>17-02-2025</a:t>
            </a:fld>
            <a:endParaRPr lang="en-US"/>
          </a:p>
        </p:txBody>
      </p:sp>
      <p:sp>
        <p:nvSpPr>
          <p:cNvPr id="6" name="Footer Placeholder 5">
            <a:extLst>
              <a:ext uri="{FF2B5EF4-FFF2-40B4-BE49-F238E27FC236}">
                <a16:creationId xmlns:a16="http://schemas.microsoft.com/office/drawing/2014/main" id="{D8780C66-96F7-5FC7-CAC6-288FE452A039}"/>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702409AD-E2E5-AB0F-EFF8-23DEE5F9EC23}"/>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2918380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49859F-E247-263C-68A9-5DCF6343EDF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64F4FC8B-DC9B-61AC-03C2-78236DF67E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83ECF2D-B7CF-D02F-1A28-EB8CD481D9D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4BF80FF4-7D16-1DB1-5CF8-B545953CEB8D}"/>
              </a:ext>
            </a:extLst>
          </p:cNvPr>
          <p:cNvSpPr>
            <a:spLocks noGrp="1"/>
          </p:cNvSpPr>
          <p:nvPr>
            <p:ph type="dt" sz="half" idx="10"/>
          </p:nvPr>
        </p:nvSpPr>
        <p:spPr/>
        <p:txBody>
          <a:bodyPr/>
          <a:lstStyle/>
          <a:p>
            <a:fld id="{948B83BD-E886-DD40-B7FF-9797E39D68B8}" type="datetime1">
              <a:rPr lang="en-IN" smtClean="0"/>
              <a:t>17-02-2025</a:t>
            </a:fld>
            <a:endParaRPr lang="en-US"/>
          </a:p>
        </p:txBody>
      </p:sp>
      <p:sp>
        <p:nvSpPr>
          <p:cNvPr id="6" name="Footer Placeholder 5">
            <a:extLst>
              <a:ext uri="{FF2B5EF4-FFF2-40B4-BE49-F238E27FC236}">
                <a16:creationId xmlns:a16="http://schemas.microsoft.com/office/drawing/2014/main" id="{8EB4661F-67A1-3A42-CAF6-4756B798E9CB}"/>
              </a:ext>
            </a:extLst>
          </p:cNvPr>
          <p:cNvSpPr>
            <a:spLocks noGrp="1"/>
          </p:cNvSpPr>
          <p:nvPr>
            <p:ph type="ftr" sz="quarter" idx="11"/>
          </p:nvPr>
        </p:nvSpPr>
        <p:spPr/>
        <p:txBody>
          <a:bodyPr/>
          <a:lstStyle/>
          <a:p>
            <a:r>
              <a:rPr lang="en-US"/>
              <a:t>Health Informatics Group, CDAC Noida </a:t>
            </a:r>
          </a:p>
        </p:txBody>
      </p:sp>
      <p:sp>
        <p:nvSpPr>
          <p:cNvPr id="7" name="Slide Number Placeholder 6">
            <a:extLst>
              <a:ext uri="{FF2B5EF4-FFF2-40B4-BE49-F238E27FC236}">
                <a16:creationId xmlns:a16="http://schemas.microsoft.com/office/drawing/2014/main" id="{8F64444E-07C3-0C34-7512-25E18DEF7DBD}"/>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26165106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DD0914-A1D4-A432-D96C-FCD42F9C8085}"/>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F069E16-F128-03F7-5686-9B125641C6A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1339E39-9D6A-5107-BFDB-FDB998A516D9}"/>
              </a:ext>
            </a:extLst>
          </p:cNvPr>
          <p:cNvSpPr>
            <a:spLocks noGrp="1"/>
          </p:cNvSpPr>
          <p:nvPr>
            <p:ph type="dt" sz="half" idx="10"/>
          </p:nvPr>
        </p:nvSpPr>
        <p:spPr/>
        <p:txBody>
          <a:bodyPr/>
          <a:lstStyle/>
          <a:p>
            <a:fld id="{02E0DC2B-3357-814B-94A4-74008761707D}" type="datetime1">
              <a:rPr lang="en-IN" smtClean="0"/>
              <a:t>17-02-2025</a:t>
            </a:fld>
            <a:endParaRPr lang="en-US"/>
          </a:p>
        </p:txBody>
      </p:sp>
      <p:sp>
        <p:nvSpPr>
          <p:cNvPr id="5" name="Footer Placeholder 4">
            <a:extLst>
              <a:ext uri="{FF2B5EF4-FFF2-40B4-BE49-F238E27FC236}">
                <a16:creationId xmlns:a16="http://schemas.microsoft.com/office/drawing/2014/main" id="{F4F0AD00-4261-4C6D-E622-9008B018DE32}"/>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165DAEE6-D88C-EF32-AA1F-36BBB1E25B61}"/>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1399786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E656DE-139F-86DF-B4A3-9D035691BBFE}"/>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825A70A7-9DF0-2DF2-2E66-BDB7137AEBE1}"/>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BBE0731-2538-7273-1F77-0E0513A83346}"/>
              </a:ext>
            </a:extLst>
          </p:cNvPr>
          <p:cNvSpPr>
            <a:spLocks noGrp="1"/>
          </p:cNvSpPr>
          <p:nvPr>
            <p:ph type="dt" sz="half" idx="10"/>
          </p:nvPr>
        </p:nvSpPr>
        <p:spPr/>
        <p:txBody>
          <a:bodyPr/>
          <a:lstStyle/>
          <a:p>
            <a:fld id="{A001B335-992F-5F41-95D7-FAA77837FE4C}" type="datetime1">
              <a:rPr lang="en-IN" smtClean="0"/>
              <a:t>17-02-2025</a:t>
            </a:fld>
            <a:endParaRPr lang="en-US"/>
          </a:p>
        </p:txBody>
      </p:sp>
      <p:sp>
        <p:nvSpPr>
          <p:cNvPr id="5" name="Footer Placeholder 4">
            <a:extLst>
              <a:ext uri="{FF2B5EF4-FFF2-40B4-BE49-F238E27FC236}">
                <a16:creationId xmlns:a16="http://schemas.microsoft.com/office/drawing/2014/main" id="{9FB240A4-C7C2-44EC-9BB7-62DB0245928C}"/>
              </a:ext>
            </a:extLst>
          </p:cNvPr>
          <p:cNvSpPr>
            <a:spLocks noGrp="1"/>
          </p:cNvSpPr>
          <p:nvPr>
            <p:ph type="ftr" sz="quarter" idx="11"/>
          </p:nvPr>
        </p:nvSpPr>
        <p:spPr/>
        <p:txBody>
          <a:bodyPr/>
          <a:lstStyle/>
          <a:p>
            <a:r>
              <a:rPr lang="en-US"/>
              <a:t>Health Informatics Group, CDAC Noida </a:t>
            </a:r>
          </a:p>
        </p:txBody>
      </p:sp>
      <p:sp>
        <p:nvSpPr>
          <p:cNvPr id="6" name="Slide Number Placeholder 5">
            <a:extLst>
              <a:ext uri="{FF2B5EF4-FFF2-40B4-BE49-F238E27FC236}">
                <a16:creationId xmlns:a16="http://schemas.microsoft.com/office/drawing/2014/main" id="{48C4ECFB-12FF-11D6-511A-076DA2C14002}"/>
              </a:ext>
            </a:extLst>
          </p:cNvPr>
          <p:cNvSpPr>
            <a:spLocks noGrp="1"/>
          </p:cNvSpPr>
          <p:nvPr>
            <p:ph type="sldNum" sz="quarter" idx="12"/>
          </p:nvPr>
        </p:nvSpPr>
        <p:spPr/>
        <p:txBody>
          <a:bodyPr/>
          <a:lstStyle/>
          <a:p>
            <a:fld id="{B183AEFC-E1BA-2145-ABB9-36D9F515A692}" type="slidenum">
              <a:rPr lang="en-US" smtClean="0"/>
              <a:t>‹#›</a:t>
            </a:fld>
            <a:endParaRPr lang="en-US"/>
          </a:p>
        </p:txBody>
      </p:sp>
    </p:spTree>
    <p:extLst>
      <p:ext uri="{BB962C8B-B14F-4D97-AF65-F5344CB8AC3E}">
        <p14:creationId xmlns:p14="http://schemas.microsoft.com/office/powerpoint/2010/main" val="4150772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A4BB27-B8DB-7EBC-696E-BDD3ADBDBC8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85EDF5-86EB-C831-C9BD-0C790238A29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2FCDB5F-5457-07EA-4FE0-FB5BF9FAF02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E4FF7B-28BB-9741-A102-B7F31D0C91BB}" type="datetime1">
              <a:rPr lang="en-IN" smtClean="0"/>
              <a:t>17-02-2025</a:t>
            </a:fld>
            <a:endParaRPr lang="en-US"/>
          </a:p>
        </p:txBody>
      </p:sp>
      <p:sp>
        <p:nvSpPr>
          <p:cNvPr id="5" name="Footer Placeholder 4">
            <a:extLst>
              <a:ext uri="{FF2B5EF4-FFF2-40B4-BE49-F238E27FC236}">
                <a16:creationId xmlns:a16="http://schemas.microsoft.com/office/drawing/2014/main" id="{678A7753-E5AB-85A5-5F3B-2FA8327301A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Health Informatics Group, CDAC Noida </a:t>
            </a:r>
          </a:p>
        </p:txBody>
      </p:sp>
      <p:sp>
        <p:nvSpPr>
          <p:cNvPr id="6" name="Slide Number Placeholder 5">
            <a:extLst>
              <a:ext uri="{FF2B5EF4-FFF2-40B4-BE49-F238E27FC236}">
                <a16:creationId xmlns:a16="http://schemas.microsoft.com/office/drawing/2014/main" id="{A9274A66-9DC6-4A0A-ADA1-C9C3BD51A9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83AEFC-E1BA-2145-ABB9-36D9F515A692}" type="slidenum">
              <a:rPr lang="en-US" smtClean="0"/>
              <a:t>‹#›</a:t>
            </a:fld>
            <a:endParaRPr lang="en-US"/>
          </a:p>
        </p:txBody>
      </p:sp>
    </p:spTree>
    <p:extLst>
      <p:ext uri="{BB962C8B-B14F-4D97-AF65-F5344CB8AC3E}">
        <p14:creationId xmlns:p14="http://schemas.microsoft.com/office/powerpoint/2010/main" val="1551836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79656" y="120146"/>
            <a:ext cx="3209719" cy="612320"/>
          </a:xfrm>
          <a:prstGeom prst="rect">
            <a:avLst/>
          </a:prstGeom>
        </p:spPr>
        <p:txBody>
          <a:bodyPr vert="horz" anchor="b">
            <a:norm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r>
              <a:rPr lang="en-US" sz="3200" b="1" dirty="0">
                <a:solidFill>
                  <a:schemeClr val="accent5">
                    <a:lumMod val="75000"/>
                  </a:schemeClr>
                </a:solidFill>
              </a:rPr>
              <a:t>e-AUSHADHI</a:t>
            </a:r>
            <a:endParaRPr lang="en-IN" sz="3200" b="1" dirty="0">
              <a:solidFill>
                <a:schemeClr val="accent5">
                  <a:lumMod val="75000"/>
                </a:schemeClr>
              </a:solidFill>
            </a:endParaRPr>
          </a:p>
        </p:txBody>
      </p:sp>
      <p:sp>
        <p:nvSpPr>
          <p:cNvPr id="8" name="TextBox 7"/>
          <p:cNvSpPr txBox="1"/>
          <p:nvPr/>
        </p:nvSpPr>
        <p:spPr>
          <a:xfrm>
            <a:off x="5959660" y="676098"/>
            <a:ext cx="5979043" cy="1383136"/>
          </a:xfrm>
          <a:prstGeom prst="rect">
            <a:avLst/>
          </a:prstGeom>
          <a:noFill/>
        </p:spPr>
        <p:txBody>
          <a:bodyPr wrap="square" rtlCol="0">
            <a:spAutoFit/>
          </a:bodyPr>
          <a:lstStyle/>
          <a:p>
            <a:pPr algn="just">
              <a:lnSpc>
                <a:spcPts val="1700"/>
              </a:lnSpc>
            </a:pPr>
            <a:r>
              <a:rPr lang="en-US" sz="1600" b="1" dirty="0">
                <a:solidFill>
                  <a:srgbClr val="C00000"/>
                </a:solidFill>
              </a:rPr>
              <a:t>e-</a:t>
            </a:r>
            <a:r>
              <a:rPr lang="en-US" sz="1600" b="1" dirty="0" err="1">
                <a:solidFill>
                  <a:srgbClr val="C00000"/>
                </a:solidFill>
              </a:rPr>
              <a:t>Aushadhi</a:t>
            </a:r>
            <a:r>
              <a:rPr lang="en-US" sz="1100" dirty="0">
                <a:solidFill>
                  <a:srgbClr val="C00000"/>
                </a:solidFill>
              </a:rPr>
              <a:t> </a:t>
            </a:r>
            <a:r>
              <a:rPr lang="en-GB" sz="1150" b="1" dirty="0"/>
              <a:t>is a web based Supply Chain Management System that deals in purchase, supply, distribution and inventory management of various drugs, sutures, surgical and consumable items by </a:t>
            </a:r>
            <a:r>
              <a:rPr lang="en-GB" sz="1150" b="1" dirty="0" smtClean="0"/>
              <a:t>linking </a:t>
            </a:r>
            <a:r>
              <a:rPr lang="en-GB" sz="1150" b="1" dirty="0"/>
              <a:t>various Regional/ District Drug warehouses (DWH), District Hospitals (DH), their sub stores like Community Health Centre (CHC), Primary Health Centre (PHC) and Sub Centres. The system also has the functionality for distribution of drugs to patients, thus enabling tracking of consumption till last mile.</a:t>
            </a:r>
          </a:p>
        </p:txBody>
      </p:sp>
      <p:sp>
        <p:nvSpPr>
          <p:cNvPr id="18" name="Rectangle 17"/>
          <p:cNvSpPr/>
          <p:nvPr/>
        </p:nvSpPr>
        <p:spPr>
          <a:xfrm>
            <a:off x="197581" y="5417037"/>
            <a:ext cx="1946993" cy="307777"/>
          </a:xfrm>
          <a:prstGeom prst="rect">
            <a:avLst/>
          </a:prstGeom>
        </p:spPr>
        <p:txBody>
          <a:bodyPr wrap="square">
            <a:spAutoFit/>
          </a:bodyPr>
          <a:lstStyle/>
          <a:p>
            <a:r>
              <a:rPr lang="en-GB" sz="1400" b="1" dirty="0">
                <a:solidFill>
                  <a:srgbClr val="C00000"/>
                </a:solidFill>
                <a:latin typeface="Poppins" panose="00000500000000000000" pitchFamily="2" charset="0"/>
                <a:cs typeface="Poppins" panose="00000500000000000000" pitchFamily="2" charset="0"/>
              </a:rPr>
              <a:t>IMPLEMENTATIONS</a:t>
            </a:r>
          </a:p>
        </p:txBody>
      </p:sp>
      <p:sp>
        <p:nvSpPr>
          <p:cNvPr id="19" name="Title 1"/>
          <p:cNvSpPr txBox="1">
            <a:spLocks/>
          </p:cNvSpPr>
          <p:nvPr/>
        </p:nvSpPr>
        <p:spPr>
          <a:xfrm>
            <a:off x="2254395" y="415824"/>
            <a:ext cx="6119584" cy="226727"/>
          </a:xfrm>
          <a:prstGeom prst="rect">
            <a:avLst/>
          </a:prstGeom>
        </p:spPr>
        <p:txBody>
          <a:bodyPr vert="horz" anchor="b">
            <a:noAutofit/>
          </a:bodyPr>
          <a:lstStyle>
            <a:lvl1pPr algn="ctr" rtl="0" eaLnBrk="1" latinLnBrk="0" hangingPunct="1">
              <a:spcBef>
                <a:spcPct val="0"/>
              </a:spcBef>
              <a:buNone/>
              <a:defRPr kumimoji="0" sz="4200" kern="1200">
                <a:solidFill>
                  <a:schemeClr val="accent1"/>
                </a:solidFill>
                <a:latin typeface="+mj-lt"/>
                <a:ea typeface="+mj-ea"/>
                <a:cs typeface="+mj-cs"/>
              </a:defRPr>
            </a:lvl1pPr>
          </a:lstStyle>
          <a:p>
            <a:pPr algn="l"/>
            <a:endParaRPr lang="en-US" sz="1800" b="1" dirty="0">
              <a:solidFill>
                <a:schemeClr val="accent5">
                  <a:lumMod val="75000"/>
                </a:schemeClr>
              </a:solidFill>
            </a:endParaRPr>
          </a:p>
          <a:p>
            <a:pPr algn="l"/>
            <a:r>
              <a:rPr lang="en-US" sz="1800" b="1" dirty="0">
                <a:solidFill>
                  <a:schemeClr val="accent5">
                    <a:lumMod val="75000"/>
                  </a:schemeClr>
                </a:solidFill>
              </a:rPr>
              <a:t>  (Drug &amp; Vaccine Distribution Management System- DVDMS)</a:t>
            </a:r>
            <a:endParaRPr lang="en-IN" sz="1800" b="1" dirty="0">
              <a:solidFill>
                <a:schemeClr val="accent5">
                  <a:lumMod val="75000"/>
                </a:schemeClr>
              </a:solidFill>
            </a:endParaRPr>
          </a:p>
        </p:txBody>
      </p:sp>
      <p:sp>
        <p:nvSpPr>
          <p:cNvPr id="21" name="TextBox 20">
            <a:extLst>
              <a:ext uri="{FF2B5EF4-FFF2-40B4-BE49-F238E27FC236}">
                <a16:creationId xmlns:a16="http://schemas.microsoft.com/office/drawing/2014/main" id="{45D84D4F-0BB0-A3B4-BF01-4B64F6DDDA6F}"/>
              </a:ext>
            </a:extLst>
          </p:cNvPr>
          <p:cNvSpPr txBox="1"/>
          <p:nvPr/>
        </p:nvSpPr>
        <p:spPr>
          <a:xfrm>
            <a:off x="200510" y="5678911"/>
            <a:ext cx="11722375" cy="1261884"/>
          </a:xfrm>
          <a:prstGeom prst="rect">
            <a:avLst/>
          </a:prstGeom>
          <a:noFill/>
        </p:spPr>
        <p:txBody>
          <a:bodyPr wrap="square" rtlCol="0">
            <a:spAutoFit/>
          </a:bodyPr>
          <a:lstStyle/>
          <a:p>
            <a:pPr algn="just">
              <a:lnSpc>
                <a:spcPts val="1600"/>
              </a:lnSpc>
            </a:pPr>
            <a:r>
              <a:rPr lang="en-GB" sz="1200" b="1" dirty="0">
                <a:solidFill>
                  <a:srgbClr val="C00000"/>
                </a:solidFill>
              </a:rPr>
              <a:t>STATES &amp; UT </a:t>
            </a:r>
            <a:r>
              <a:rPr lang="en-GB" sz="1200" b="1" dirty="0"/>
              <a:t>: Rajasthan | Gujarat | Telangana | Bihar | Madhya Pradesh | Maharashtra | Punjab | Andhra Pradesh | Uttar Pradesh | Uttarakhand |   Manipur | Himachal Pradesh | Jharkhand | </a:t>
            </a:r>
            <a:r>
              <a:rPr lang="en-GB" sz="1200" b="1" dirty="0">
                <a:solidFill>
                  <a:srgbClr val="FF0000"/>
                </a:solidFill>
              </a:rPr>
              <a:t>Meghalaya</a:t>
            </a:r>
            <a:r>
              <a:rPr lang="en-GB" sz="1200" b="1" dirty="0"/>
              <a:t> | Assam | Arunachal Pradesh | Mizoram | Nagaland | Odisha | Sikkim | UTs (Jammu &amp; Kashmir  | Puducherry | Lakshadweep | Ladakh | Chandigarh   |  A &amp; N Island)</a:t>
            </a:r>
          </a:p>
          <a:p>
            <a:pPr algn="just">
              <a:lnSpc>
                <a:spcPct val="150000"/>
              </a:lnSpc>
            </a:pPr>
            <a:r>
              <a:rPr lang="en-GB" sz="1200" b="1" dirty="0">
                <a:solidFill>
                  <a:srgbClr val="C00000"/>
                </a:solidFill>
              </a:rPr>
              <a:t>NATIONAL PROGRAM :</a:t>
            </a:r>
            <a:r>
              <a:rPr lang="en-GB" sz="1200" b="1" dirty="0"/>
              <a:t> Central Dash Board-</a:t>
            </a:r>
            <a:r>
              <a:rPr lang="en-GB" sz="1200" b="1" dirty="0" err="1"/>
              <a:t>MoHFW</a:t>
            </a:r>
            <a:r>
              <a:rPr lang="en-GB" sz="1200" b="1" dirty="0"/>
              <a:t> | TB-</a:t>
            </a:r>
            <a:r>
              <a:rPr lang="en-GB" sz="1200" b="1" dirty="0" err="1"/>
              <a:t>MoHFW</a:t>
            </a:r>
            <a:r>
              <a:rPr lang="en-GB" sz="1200" b="1" dirty="0"/>
              <a:t> | FP-</a:t>
            </a:r>
            <a:r>
              <a:rPr lang="en-GB" sz="1200" b="1" dirty="0" err="1"/>
              <a:t>MoHFW</a:t>
            </a:r>
            <a:r>
              <a:rPr lang="en-GB" sz="1200" b="1" dirty="0"/>
              <a:t> | CMSS-</a:t>
            </a:r>
            <a:r>
              <a:rPr lang="en-GB" sz="1200" b="1" dirty="0" err="1"/>
              <a:t>MoHFW</a:t>
            </a:r>
            <a:r>
              <a:rPr lang="en-GB" sz="1200" b="1" dirty="0"/>
              <a:t> | MSO-</a:t>
            </a:r>
            <a:r>
              <a:rPr lang="en-GB" sz="1200" b="1" dirty="0" err="1"/>
              <a:t>MoHFW</a:t>
            </a:r>
            <a:r>
              <a:rPr lang="en-GB" sz="1200" b="1" dirty="0"/>
              <a:t> | </a:t>
            </a:r>
            <a:r>
              <a:rPr lang="en-GB" sz="1200" b="1" dirty="0">
                <a:solidFill>
                  <a:srgbClr val="FF0000"/>
                </a:solidFill>
              </a:rPr>
              <a:t>NVBDCP-</a:t>
            </a:r>
            <a:r>
              <a:rPr lang="en-GB" sz="1200" b="1" dirty="0" err="1">
                <a:solidFill>
                  <a:srgbClr val="FF0000"/>
                </a:solidFill>
              </a:rPr>
              <a:t>MoHFW</a:t>
            </a:r>
            <a:r>
              <a:rPr lang="en-GB" sz="1200" b="1" dirty="0"/>
              <a:t> |  DGAFMS-MoD </a:t>
            </a:r>
          </a:p>
          <a:p>
            <a:pPr algn="just">
              <a:lnSpc>
                <a:spcPct val="150000"/>
              </a:lnSpc>
            </a:pPr>
            <a:r>
              <a:rPr lang="en-GB" sz="1200" b="1" dirty="0">
                <a:solidFill>
                  <a:srgbClr val="C00000"/>
                </a:solidFill>
              </a:rPr>
              <a:t>OTHERS : </a:t>
            </a:r>
            <a:r>
              <a:rPr lang="en-GB" sz="1200" b="1" dirty="0"/>
              <a:t>DIMS-AP | DIMS-TS  |  DMER-Maharashtra</a:t>
            </a:r>
          </a:p>
        </p:txBody>
      </p:sp>
      <p:sp>
        <p:nvSpPr>
          <p:cNvPr id="28" name="Rounded Rectangle 27"/>
          <p:cNvSpPr/>
          <p:nvPr/>
        </p:nvSpPr>
        <p:spPr>
          <a:xfrm>
            <a:off x="6038549" y="2064697"/>
            <a:ext cx="5958769" cy="2101305"/>
          </a:xfrm>
          <a:prstGeom prst="roundRect">
            <a:avLst/>
          </a:prstGeom>
          <a:solidFill>
            <a:srgbClr val="CFEFFD"/>
          </a:solidFill>
          <a:ln w="11303"/>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Rectangle 28"/>
          <p:cNvSpPr/>
          <p:nvPr/>
        </p:nvSpPr>
        <p:spPr>
          <a:xfrm>
            <a:off x="6309888" y="2115442"/>
            <a:ext cx="1879904" cy="323165"/>
          </a:xfrm>
          <a:prstGeom prst="rect">
            <a:avLst/>
          </a:prstGeom>
        </p:spPr>
        <p:txBody>
          <a:bodyPr wrap="square">
            <a:spAutoFit/>
          </a:bodyPr>
          <a:lstStyle/>
          <a:p>
            <a:r>
              <a:rPr lang="en-GB" sz="1500" b="1" dirty="0">
                <a:solidFill>
                  <a:srgbClr val="C00000"/>
                </a:solidFill>
              </a:rPr>
              <a:t>KEY FEATURES</a:t>
            </a:r>
          </a:p>
        </p:txBody>
      </p:sp>
      <p:sp>
        <p:nvSpPr>
          <p:cNvPr id="30" name="TextBox 29"/>
          <p:cNvSpPr txBox="1"/>
          <p:nvPr/>
        </p:nvSpPr>
        <p:spPr>
          <a:xfrm>
            <a:off x="6320521" y="2374017"/>
            <a:ext cx="5044626" cy="1754326"/>
          </a:xfrm>
          <a:prstGeom prst="rect">
            <a:avLst/>
          </a:prstGeom>
          <a:noFill/>
        </p:spPr>
        <p:txBody>
          <a:bodyPr wrap="square" rtlCol="0">
            <a:spAutoFit/>
          </a:bodyPr>
          <a:lstStyle/>
          <a:p>
            <a:pPr fontAlgn="base">
              <a:spcBef>
                <a:spcPct val="0"/>
              </a:spcBef>
              <a:spcAft>
                <a:spcPct val="0"/>
              </a:spcAft>
              <a:buFont typeface="Wingdings" pitchFamily="2" charset="2"/>
              <a:buChar char="q"/>
            </a:pPr>
            <a:r>
              <a:rPr lang="en-US" sz="1200" dirty="0">
                <a:latin typeface="+mj-lt"/>
                <a:ea typeface="Cambria" pitchFamily="18" charset="0"/>
                <a:cs typeface="Arial" pitchFamily="34" charset="0"/>
              </a:rPr>
              <a:t>  Web based on Open Source Platform</a:t>
            </a:r>
          </a:p>
          <a:p>
            <a:pPr fontAlgn="base">
              <a:spcBef>
                <a:spcPct val="0"/>
              </a:spcBef>
              <a:spcAft>
                <a:spcPct val="0"/>
              </a:spcAft>
              <a:buFont typeface="Wingdings" pitchFamily="2" charset="2"/>
              <a:buChar char="q"/>
            </a:pPr>
            <a:r>
              <a:rPr lang="en-GB" sz="1200" dirty="0">
                <a:latin typeface="+mj-lt"/>
                <a:ea typeface="Cambria" pitchFamily="18" charset="0"/>
                <a:cs typeface="Arial" pitchFamily="34" charset="0"/>
              </a:rPr>
              <a:t>  Alert Management System</a:t>
            </a:r>
          </a:p>
          <a:p>
            <a:pPr fontAlgn="base">
              <a:spcBef>
                <a:spcPct val="0"/>
              </a:spcBef>
              <a:spcAft>
                <a:spcPct val="0"/>
              </a:spcAft>
              <a:buFont typeface="Wingdings" pitchFamily="2" charset="2"/>
              <a:buChar char="q"/>
            </a:pPr>
            <a:r>
              <a:rPr lang="en-GB" sz="1200" dirty="0">
                <a:latin typeface="+mj-lt"/>
                <a:ea typeface="Cambria" pitchFamily="18" charset="0"/>
                <a:cs typeface="Arial" pitchFamily="34" charset="0"/>
              </a:rPr>
              <a:t>  Centralised Dashboard </a:t>
            </a:r>
          </a:p>
          <a:p>
            <a:pPr fontAlgn="base">
              <a:spcBef>
                <a:spcPct val="0"/>
              </a:spcBef>
              <a:spcAft>
                <a:spcPct val="0"/>
              </a:spcAft>
              <a:buFont typeface="Wingdings" pitchFamily="2" charset="2"/>
              <a:buChar char="q"/>
            </a:pPr>
            <a:r>
              <a:rPr lang="en-GB" sz="1200" dirty="0">
                <a:latin typeface="+mj-lt"/>
                <a:ea typeface="Cambria" pitchFamily="18" charset="0"/>
                <a:cs typeface="Arial" pitchFamily="34" charset="0"/>
              </a:rPr>
              <a:t>  Dynamic Reporting and Data Analysis</a:t>
            </a:r>
          </a:p>
          <a:p>
            <a:pPr fontAlgn="base">
              <a:spcBef>
                <a:spcPct val="0"/>
              </a:spcBef>
              <a:spcAft>
                <a:spcPct val="0"/>
              </a:spcAft>
              <a:buFont typeface="Wingdings" pitchFamily="2" charset="2"/>
              <a:buChar char="q"/>
            </a:pPr>
            <a:r>
              <a:rPr lang="en-GB" sz="1200" dirty="0">
                <a:latin typeface="+mj-lt"/>
                <a:ea typeface="Cambria" pitchFamily="18" charset="0"/>
                <a:cs typeface="Arial" pitchFamily="34" charset="0"/>
              </a:rPr>
              <a:t>  Online/Offline Drug Distribution Counters</a:t>
            </a:r>
          </a:p>
          <a:p>
            <a:pPr fontAlgn="base">
              <a:spcBef>
                <a:spcPct val="0"/>
              </a:spcBef>
              <a:spcAft>
                <a:spcPct val="0"/>
              </a:spcAft>
              <a:buFont typeface="Wingdings" pitchFamily="2" charset="2"/>
              <a:buChar char="q"/>
            </a:pPr>
            <a:r>
              <a:rPr lang="en-US" sz="1200" dirty="0">
                <a:latin typeface="+mj-lt"/>
                <a:ea typeface="Cambria" pitchFamily="18" charset="0"/>
                <a:cs typeface="Arial" pitchFamily="34" charset="0"/>
              </a:rPr>
              <a:t>  GS1 Compliant Barcode Interface</a:t>
            </a:r>
          </a:p>
          <a:p>
            <a:pPr fontAlgn="base">
              <a:spcBef>
                <a:spcPct val="0"/>
              </a:spcBef>
              <a:spcAft>
                <a:spcPct val="0"/>
              </a:spcAft>
              <a:buFont typeface="Wingdings" pitchFamily="2" charset="2"/>
              <a:buChar char="q"/>
            </a:pPr>
            <a:r>
              <a:rPr lang="en-US" sz="1200" dirty="0">
                <a:latin typeface="+mj-lt"/>
                <a:ea typeface="Cambria" pitchFamily="18" charset="0"/>
                <a:cs typeface="Arial" pitchFamily="34" charset="0"/>
              </a:rPr>
              <a:t>  Integration with payment gateway and SMS gateway</a:t>
            </a:r>
          </a:p>
          <a:p>
            <a:pPr fontAlgn="base">
              <a:spcBef>
                <a:spcPct val="0"/>
              </a:spcBef>
              <a:spcAft>
                <a:spcPct val="0"/>
              </a:spcAft>
              <a:buFont typeface="Wingdings" pitchFamily="2" charset="2"/>
              <a:buChar char="q"/>
            </a:pPr>
            <a:r>
              <a:rPr lang="en-US" sz="1200" dirty="0">
                <a:latin typeface="+mj-lt"/>
                <a:ea typeface="Cambria" pitchFamily="18" charset="0"/>
                <a:cs typeface="Arial" pitchFamily="34" charset="0"/>
              </a:rPr>
              <a:t>  Integration with digital signature</a:t>
            </a:r>
            <a:endParaRPr lang="en-GB" sz="1200" dirty="0">
              <a:latin typeface="+mj-lt"/>
              <a:ea typeface="Cambria" pitchFamily="18" charset="0"/>
              <a:cs typeface="Arial" pitchFamily="34" charset="0"/>
            </a:endParaRPr>
          </a:p>
          <a:p>
            <a:pPr fontAlgn="base">
              <a:spcBef>
                <a:spcPct val="0"/>
              </a:spcBef>
              <a:spcAft>
                <a:spcPct val="0"/>
              </a:spcAft>
              <a:buFont typeface="Wingdings" pitchFamily="2" charset="2"/>
              <a:buChar char="q"/>
            </a:pPr>
            <a:r>
              <a:rPr lang="en-US" sz="1200" dirty="0">
                <a:latin typeface="+mj-lt"/>
                <a:ea typeface="Cambria" pitchFamily="18" charset="0"/>
                <a:cs typeface="Arial" pitchFamily="34" charset="0"/>
              </a:rPr>
              <a:t>  Secured and configurable architecture</a:t>
            </a:r>
            <a:endParaRPr lang="en-GB" sz="1200" dirty="0">
              <a:latin typeface="+mj-lt"/>
              <a:ea typeface="Cambria" pitchFamily="18" charset="0"/>
              <a:cs typeface="Arial" pitchFamily="34" charset="0"/>
            </a:endParaRPr>
          </a:p>
        </p:txBody>
      </p:sp>
      <p:pic>
        <p:nvPicPr>
          <p:cNvPr id="32" name="Picture 31" descr="Screenshot1.JPG"/>
          <p:cNvPicPr/>
          <p:nvPr/>
        </p:nvPicPr>
        <p:blipFill>
          <a:blip r:embed="rId2" cstate="print"/>
          <a:stretch>
            <a:fillRect/>
          </a:stretch>
        </p:blipFill>
        <p:spPr>
          <a:xfrm>
            <a:off x="6095194" y="4267329"/>
            <a:ext cx="5902123" cy="1347590"/>
          </a:xfrm>
          <a:prstGeom prst="rect">
            <a:avLst/>
          </a:prstGeom>
          <a:ln>
            <a:solidFill>
              <a:schemeClr val="tx1"/>
            </a:solidFill>
          </a:ln>
        </p:spPr>
      </p:pic>
      <p:pic>
        <p:nvPicPr>
          <p:cNvPr id="33" name="Picture 32" descr="Picture2.jpg"/>
          <p:cNvPicPr>
            <a:picLocks noChangeAspect="1"/>
          </p:cNvPicPr>
          <p:nvPr/>
        </p:nvPicPr>
        <p:blipFill>
          <a:blip r:embed="rId3"/>
          <a:stretch>
            <a:fillRect/>
          </a:stretch>
        </p:blipFill>
        <p:spPr>
          <a:xfrm>
            <a:off x="238185" y="881992"/>
            <a:ext cx="2313353" cy="1058183"/>
          </a:xfrm>
          <a:prstGeom prst="rect">
            <a:avLst/>
          </a:prstGeom>
        </p:spPr>
      </p:pic>
      <p:pic>
        <p:nvPicPr>
          <p:cNvPr id="2" name="Picture 1"/>
          <p:cNvPicPr>
            <a:picLocks noChangeAspect="1"/>
          </p:cNvPicPr>
          <p:nvPr/>
        </p:nvPicPr>
        <p:blipFill>
          <a:blip r:embed="rId4"/>
          <a:stretch>
            <a:fillRect/>
          </a:stretch>
        </p:blipFill>
        <p:spPr>
          <a:xfrm>
            <a:off x="2586708" y="692167"/>
            <a:ext cx="3236424" cy="1343003"/>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11644" y="2167675"/>
            <a:ext cx="5512990" cy="3270628"/>
          </a:xfrm>
          <a:prstGeom prst="rect">
            <a:avLst/>
          </a:prstGeom>
        </p:spPr>
      </p:pic>
    </p:spTree>
    <p:extLst>
      <p:ext uri="{BB962C8B-B14F-4D97-AF65-F5344CB8AC3E}">
        <p14:creationId xmlns:p14="http://schemas.microsoft.com/office/powerpoint/2010/main" val="1783755170"/>
      </p:ext>
    </p:extLst>
  </p:cSld>
  <p:clrMapOvr>
    <a:masterClrMapping/>
  </p:clrMapOvr>
  <mc:AlternateContent xmlns:mc="http://schemas.openxmlformats.org/markup-compatibility/2006" xmlns:p14="http://schemas.microsoft.com/office/powerpoint/2010/main">
    <mc:Choice Requires="p14">
      <p:transition spd="slow" p14:dur="2000">
        <p14:prism isContent="1"/>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1440</TotalTime>
  <Words>243</Words>
  <Application>Microsoft Office PowerPoint</Application>
  <PresentationFormat>Widescreen</PresentationFormat>
  <Paragraphs>18</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Cambria</vt:lpstr>
      <vt:lpstr>Poppins</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Mansi Aggarwal</cp:lastModifiedBy>
  <cp:revision>164</cp:revision>
  <dcterms:created xsi:type="dcterms:W3CDTF">2022-09-20T05:31:20Z</dcterms:created>
  <dcterms:modified xsi:type="dcterms:W3CDTF">2025-02-18T04:43:19Z</dcterms:modified>
</cp:coreProperties>
</file>
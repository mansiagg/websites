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309" r:id="rId2"/>
    <p:sldId id="310" r:id="rId3"/>
    <p:sldId id="311"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EFFD"/>
    <a:srgbClr val="A7E0FB"/>
    <a:srgbClr val="AFE5FF"/>
    <a:srgbClr val="B1E1FF"/>
    <a:srgbClr val="C4EBFD"/>
    <a:srgbClr val="89C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756"/>
    <p:restoredTop sz="95878"/>
  </p:normalViewPr>
  <p:slideViewPr>
    <p:cSldViewPr snapToGrid="0">
      <p:cViewPr varScale="1">
        <p:scale>
          <a:sx n="90" d="100"/>
          <a:sy n="90" d="100"/>
        </p:scale>
        <p:origin x="348" y="96"/>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35E8FE-DEFC-B14C-BD4C-2302B518C624}" type="datetimeFigureOut">
              <a:rPr lang="en-US" smtClean="0"/>
              <a:t>2/14/2025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75DBB9-F7B4-E24D-8283-FE205F362B6B}" type="slidenum">
              <a:rPr lang="en-US" smtClean="0"/>
              <a:t>‹#›</a:t>
            </a:fld>
            <a:endParaRPr lang="en-US"/>
          </a:p>
        </p:txBody>
      </p:sp>
    </p:spTree>
    <p:extLst>
      <p:ext uri="{BB962C8B-B14F-4D97-AF65-F5344CB8AC3E}">
        <p14:creationId xmlns:p14="http://schemas.microsoft.com/office/powerpoint/2010/main" val="2248568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5FAD8-0A0F-EAEF-E502-365DA8861C4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CE13ECA-0E4C-9350-1F23-D2F1E35705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32F1ADAF-75AA-662D-95A8-BE080D838DC5}"/>
              </a:ext>
            </a:extLst>
          </p:cNvPr>
          <p:cNvSpPr>
            <a:spLocks noGrp="1"/>
          </p:cNvSpPr>
          <p:nvPr>
            <p:ph type="dt" sz="half" idx="10"/>
          </p:nvPr>
        </p:nvSpPr>
        <p:spPr/>
        <p:txBody>
          <a:bodyPr/>
          <a:lstStyle/>
          <a:p>
            <a:fld id="{A043B7A0-A299-734C-B295-9DB506BF8814}" type="datetime1">
              <a:rPr lang="en-IN" smtClean="0"/>
              <a:t>14-02-2025</a:t>
            </a:fld>
            <a:endParaRPr lang="en-US"/>
          </a:p>
        </p:txBody>
      </p:sp>
      <p:sp>
        <p:nvSpPr>
          <p:cNvPr id="5" name="Footer Placeholder 4">
            <a:extLst>
              <a:ext uri="{FF2B5EF4-FFF2-40B4-BE49-F238E27FC236}">
                <a16:creationId xmlns:a16="http://schemas.microsoft.com/office/drawing/2014/main" id="{83E536F9-ADEB-3713-AB8B-2AEBBC35143D}"/>
              </a:ext>
            </a:extLst>
          </p:cNvPr>
          <p:cNvSpPr>
            <a:spLocks noGrp="1"/>
          </p:cNvSpPr>
          <p:nvPr>
            <p:ph type="ftr" sz="quarter" idx="11"/>
          </p:nvPr>
        </p:nvSpPr>
        <p:spPr/>
        <p:txBody>
          <a:bodyPr/>
          <a:lstStyle/>
          <a:p>
            <a:r>
              <a:rPr lang="en-US"/>
              <a:t>Health Informatics Group, CDAC Noida </a:t>
            </a:r>
          </a:p>
        </p:txBody>
      </p:sp>
      <p:sp>
        <p:nvSpPr>
          <p:cNvPr id="6" name="Slide Number Placeholder 5">
            <a:extLst>
              <a:ext uri="{FF2B5EF4-FFF2-40B4-BE49-F238E27FC236}">
                <a16:creationId xmlns:a16="http://schemas.microsoft.com/office/drawing/2014/main" id="{34A4A83D-0393-E926-203B-9D1897EDDB91}"/>
              </a:ext>
            </a:extLst>
          </p:cNvPr>
          <p:cNvSpPr>
            <a:spLocks noGrp="1"/>
          </p:cNvSpPr>
          <p:nvPr>
            <p:ph type="sldNum" sz="quarter" idx="12"/>
          </p:nvPr>
        </p:nvSpPr>
        <p:spPr/>
        <p:txBody>
          <a:bodyPr/>
          <a:lstStyle/>
          <a:p>
            <a:fld id="{B183AEFC-E1BA-2145-ABB9-36D9F515A692}" type="slidenum">
              <a:rPr lang="en-US" smtClean="0"/>
              <a:t>‹#›</a:t>
            </a:fld>
            <a:endParaRPr lang="en-US"/>
          </a:p>
        </p:txBody>
      </p:sp>
    </p:spTree>
    <p:extLst>
      <p:ext uri="{BB962C8B-B14F-4D97-AF65-F5344CB8AC3E}">
        <p14:creationId xmlns:p14="http://schemas.microsoft.com/office/powerpoint/2010/main" val="3551860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B83BD-A19E-B1AA-F709-85B8D83A8A7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1E3080E-A345-E834-BC8B-0C4D62B183D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2917364-FCF1-8933-1916-6415A7D2AE6B}"/>
              </a:ext>
            </a:extLst>
          </p:cNvPr>
          <p:cNvSpPr>
            <a:spLocks noGrp="1"/>
          </p:cNvSpPr>
          <p:nvPr>
            <p:ph type="dt" sz="half" idx="10"/>
          </p:nvPr>
        </p:nvSpPr>
        <p:spPr/>
        <p:txBody>
          <a:bodyPr/>
          <a:lstStyle/>
          <a:p>
            <a:fld id="{578CA80D-3C89-BB44-BB56-56E87FA6BCFC}" type="datetime1">
              <a:rPr lang="en-IN" smtClean="0"/>
              <a:t>14-02-2025</a:t>
            </a:fld>
            <a:endParaRPr lang="en-US"/>
          </a:p>
        </p:txBody>
      </p:sp>
      <p:sp>
        <p:nvSpPr>
          <p:cNvPr id="5" name="Footer Placeholder 4">
            <a:extLst>
              <a:ext uri="{FF2B5EF4-FFF2-40B4-BE49-F238E27FC236}">
                <a16:creationId xmlns:a16="http://schemas.microsoft.com/office/drawing/2014/main" id="{53EEF229-FC74-06C3-284A-2FE8B24AFBEC}"/>
              </a:ext>
            </a:extLst>
          </p:cNvPr>
          <p:cNvSpPr>
            <a:spLocks noGrp="1"/>
          </p:cNvSpPr>
          <p:nvPr>
            <p:ph type="ftr" sz="quarter" idx="11"/>
          </p:nvPr>
        </p:nvSpPr>
        <p:spPr/>
        <p:txBody>
          <a:bodyPr/>
          <a:lstStyle/>
          <a:p>
            <a:r>
              <a:rPr lang="en-US"/>
              <a:t>Health Informatics Group, CDAC Noida </a:t>
            </a:r>
          </a:p>
        </p:txBody>
      </p:sp>
      <p:sp>
        <p:nvSpPr>
          <p:cNvPr id="6" name="Slide Number Placeholder 5">
            <a:extLst>
              <a:ext uri="{FF2B5EF4-FFF2-40B4-BE49-F238E27FC236}">
                <a16:creationId xmlns:a16="http://schemas.microsoft.com/office/drawing/2014/main" id="{DC7140A1-DA20-23D7-583D-77B02AB49378}"/>
              </a:ext>
            </a:extLst>
          </p:cNvPr>
          <p:cNvSpPr>
            <a:spLocks noGrp="1"/>
          </p:cNvSpPr>
          <p:nvPr>
            <p:ph type="sldNum" sz="quarter" idx="12"/>
          </p:nvPr>
        </p:nvSpPr>
        <p:spPr/>
        <p:txBody>
          <a:bodyPr/>
          <a:lstStyle/>
          <a:p>
            <a:fld id="{B183AEFC-E1BA-2145-ABB9-36D9F515A692}" type="slidenum">
              <a:rPr lang="en-US" smtClean="0"/>
              <a:t>‹#›</a:t>
            </a:fld>
            <a:endParaRPr lang="en-US"/>
          </a:p>
        </p:txBody>
      </p:sp>
    </p:spTree>
    <p:extLst>
      <p:ext uri="{BB962C8B-B14F-4D97-AF65-F5344CB8AC3E}">
        <p14:creationId xmlns:p14="http://schemas.microsoft.com/office/powerpoint/2010/main" val="308441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D7289-C39A-B374-E40A-BEE1FA73512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8B06552-6064-4C9C-23E6-1BE980F542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6F81321-5A9E-2F40-2B6C-C18D8D2156CD}"/>
              </a:ext>
            </a:extLst>
          </p:cNvPr>
          <p:cNvSpPr>
            <a:spLocks noGrp="1"/>
          </p:cNvSpPr>
          <p:nvPr>
            <p:ph type="dt" sz="half" idx="10"/>
          </p:nvPr>
        </p:nvSpPr>
        <p:spPr/>
        <p:txBody>
          <a:bodyPr/>
          <a:lstStyle/>
          <a:p>
            <a:fld id="{E9B6AF31-7FF2-9442-9521-EB8E46657EEF}" type="datetime1">
              <a:rPr lang="en-IN" smtClean="0"/>
              <a:t>14-02-2025</a:t>
            </a:fld>
            <a:endParaRPr lang="en-US"/>
          </a:p>
        </p:txBody>
      </p:sp>
      <p:sp>
        <p:nvSpPr>
          <p:cNvPr id="5" name="Footer Placeholder 4">
            <a:extLst>
              <a:ext uri="{FF2B5EF4-FFF2-40B4-BE49-F238E27FC236}">
                <a16:creationId xmlns:a16="http://schemas.microsoft.com/office/drawing/2014/main" id="{020D3FDE-A05D-AFCB-831C-457386072F0C}"/>
              </a:ext>
            </a:extLst>
          </p:cNvPr>
          <p:cNvSpPr>
            <a:spLocks noGrp="1"/>
          </p:cNvSpPr>
          <p:nvPr>
            <p:ph type="ftr" sz="quarter" idx="11"/>
          </p:nvPr>
        </p:nvSpPr>
        <p:spPr/>
        <p:txBody>
          <a:bodyPr/>
          <a:lstStyle/>
          <a:p>
            <a:r>
              <a:rPr lang="en-US"/>
              <a:t>Health Informatics Group, CDAC Noida </a:t>
            </a:r>
          </a:p>
        </p:txBody>
      </p:sp>
      <p:sp>
        <p:nvSpPr>
          <p:cNvPr id="6" name="Slide Number Placeholder 5">
            <a:extLst>
              <a:ext uri="{FF2B5EF4-FFF2-40B4-BE49-F238E27FC236}">
                <a16:creationId xmlns:a16="http://schemas.microsoft.com/office/drawing/2014/main" id="{CAC87D45-26D1-385D-9263-B8D46F00DE2B}"/>
              </a:ext>
            </a:extLst>
          </p:cNvPr>
          <p:cNvSpPr>
            <a:spLocks noGrp="1"/>
          </p:cNvSpPr>
          <p:nvPr>
            <p:ph type="sldNum" sz="quarter" idx="12"/>
          </p:nvPr>
        </p:nvSpPr>
        <p:spPr/>
        <p:txBody>
          <a:bodyPr/>
          <a:lstStyle/>
          <a:p>
            <a:fld id="{B183AEFC-E1BA-2145-ABB9-36D9F515A692}" type="slidenum">
              <a:rPr lang="en-US" smtClean="0"/>
              <a:t>‹#›</a:t>
            </a:fld>
            <a:endParaRPr lang="en-US"/>
          </a:p>
        </p:txBody>
      </p:sp>
    </p:spTree>
    <p:extLst>
      <p:ext uri="{BB962C8B-B14F-4D97-AF65-F5344CB8AC3E}">
        <p14:creationId xmlns:p14="http://schemas.microsoft.com/office/powerpoint/2010/main" val="41041868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8EB08-4EE5-ED13-04BB-5B7F17B0263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1C484D4-2B0A-FE46-E652-808FC268565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58C5084-A4A6-23F2-BC91-341D30C2C14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37BE4F5-5D16-D116-8802-6AFE462F1B19}"/>
              </a:ext>
            </a:extLst>
          </p:cNvPr>
          <p:cNvSpPr>
            <a:spLocks noGrp="1"/>
          </p:cNvSpPr>
          <p:nvPr>
            <p:ph type="dt" sz="half" idx="10"/>
          </p:nvPr>
        </p:nvSpPr>
        <p:spPr/>
        <p:txBody>
          <a:bodyPr/>
          <a:lstStyle/>
          <a:p>
            <a:fld id="{7844D7A8-5D4F-E14C-B44E-79EB02D08F43}" type="datetime1">
              <a:rPr lang="en-IN" smtClean="0"/>
              <a:t>14-02-2025</a:t>
            </a:fld>
            <a:endParaRPr lang="en-US"/>
          </a:p>
        </p:txBody>
      </p:sp>
      <p:sp>
        <p:nvSpPr>
          <p:cNvPr id="6" name="Footer Placeholder 5">
            <a:extLst>
              <a:ext uri="{FF2B5EF4-FFF2-40B4-BE49-F238E27FC236}">
                <a16:creationId xmlns:a16="http://schemas.microsoft.com/office/drawing/2014/main" id="{6A9AC7CD-C466-D787-BE6E-0DE5C1B19037}"/>
              </a:ext>
            </a:extLst>
          </p:cNvPr>
          <p:cNvSpPr>
            <a:spLocks noGrp="1"/>
          </p:cNvSpPr>
          <p:nvPr>
            <p:ph type="ftr" sz="quarter" idx="11"/>
          </p:nvPr>
        </p:nvSpPr>
        <p:spPr/>
        <p:txBody>
          <a:bodyPr/>
          <a:lstStyle/>
          <a:p>
            <a:r>
              <a:rPr lang="en-US"/>
              <a:t>Health Informatics Group, CDAC Noida </a:t>
            </a:r>
          </a:p>
        </p:txBody>
      </p:sp>
      <p:sp>
        <p:nvSpPr>
          <p:cNvPr id="7" name="Slide Number Placeholder 6">
            <a:extLst>
              <a:ext uri="{FF2B5EF4-FFF2-40B4-BE49-F238E27FC236}">
                <a16:creationId xmlns:a16="http://schemas.microsoft.com/office/drawing/2014/main" id="{0B50E1CE-E609-FA24-EB7F-4AFFF27DF7AD}"/>
              </a:ext>
            </a:extLst>
          </p:cNvPr>
          <p:cNvSpPr>
            <a:spLocks noGrp="1"/>
          </p:cNvSpPr>
          <p:nvPr>
            <p:ph type="sldNum" sz="quarter" idx="12"/>
          </p:nvPr>
        </p:nvSpPr>
        <p:spPr/>
        <p:txBody>
          <a:bodyPr/>
          <a:lstStyle/>
          <a:p>
            <a:fld id="{B183AEFC-E1BA-2145-ABB9-36D9F515A692}" type="slidenum">
              <a:rPr lang="en-US" smtClean="0"/>
              <a:t>‹#›</a:t>
            </a:fld>
            <a:endParaRPr lang="en-US"/>
          </a:p>
        </p:txBody>
      </p:sp>
    </p:spTree>
    <p:extLst>
      <p:ext uri="{BB962C8B-B14F-4D97-AF65-F5344CB8AC3E}">
        <p14:creationId xmlns:p14="http://schemas.microsoft.com/office/powerpoint/2010/main" val="3496326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212AD-5F44-2038-F5CF-799C069A62C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1C4A86F-E277-E6BB-2908-6369EBD137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BE7A918-0EB7-D817-DE29-0AA503756D5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5E2ED17D-D54E-7A0A-52AA-16FA43B0D7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16ED235-A93C-5A68-5ABB-3F7C2BE298C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B732EE1-8ED6-42B9-AB6A-EEBAECFE9997}"/>
              </a:ext>
            </a:extLst>
          </p:cNvPr>
          <p:cNvSpPr>
            <a:spLocks noGrp="1"/>
          </p:cNvSpPr>
          <p:nvPr>
            <p:ph type="dt" sz="half" idx="10"/>
          </p:nvPr>
        </p:nvSpPr>
        <p:spPr/>
        <p:txBody>
          <a:bodyPr/>
          <a:lstStyle/>
          <a:p>
            <a:fld id="{AA7AB61B-E009-D148-8383-664390B50A03}" type="datetime1">
              <a:rPr lang="en-IN" smtClean="0"/>
              <a:t>14-02-2025</a:t>
            </a:fld>
            <a:endParaRPr lang="en-US"/>
          </a:p>
        </p:txBody>
      </p:sp>
      <p:sp>
        <p:nvSpPr>
          <p:cNvPr id="8" name="Footer Placeholder 7">
            <a:extLst>
              <a:ext uri="{FF2B5EF4-FFF2-40B4-BE49-F238E27FC236}">
                <a16:creationId xmlns:a16="http://schemas.microsoft.com/office/drawing/2014/main" id="{46F937CB-0CF9-43C4-8A07-EFF87CCD33D4}"/>
              </a:ext>
            </a:extLst>
          </p:cNvPr>
          <p:cNvSpPr>
            <a:spLocks noGrp="1"/>
          </p:cNvSpPr>
          <p:nvPr>
            <p:ph type="ftr" sz="quarter" idx="11"/>
          </p:nvPr>
        </p:nvSpPr>
        <p:spPr/>
        <p:txBody>
          <a:bodyPr/>
          <a:lstStyle/>
          <a:p>
            <a:r>
              <a:rPr lang="en-US"/>
              <a:t>Health Informatics Group, CDAC Noida </a:t>
            </a:r>
          </a:p>
        </p:txBody>
      </p:sp>
      <p:sp>
        <p:nvSpPr>
          <p:cNvPr id="9" name="Slide Number Placeholder 8">
            <a:extLst>
              <a:ext uri="{FF2B5EF4-FFF2-40B4-BE49-F238E27FC236}">
                <a16:creationId xmlns:a16="http://schemas.microsoft.com/office/drawing/2014/main" id="{F2210938-74C5-6634-CABE-D517D70BD85F}"/>
              </a:ext>
            </a:extLst>
          </p:cNvPr>
          <p:cNvSpPr>
            <a:spLocks noGrp="1"/>
          </p:cNvSpPr>
          <p:nvPr>
            <p:ph type="sldNum" sz="quarter" idx="12"/>
          </p:nvPr>
        </p:nvSpPr>
        <p:spPr/>
        <p:txBody>
          <a:bodyPr/>
          <a:lstStyle/>
          <a:p>
            <a:fld id="{B183AEFC-E1BA-2145-ABB9-36D9F515A692}" type="slidenum">
              <a:rPr lang="en-US" smtClean="0"/>
              <a:t>‹#›</a:t>
            </a:fld>
            <a:endParaRPr lang="en-US"/>
          </a:p>
        </p:txBody>
      </p:sp>
    </p:spTree>
    <p:extLst>
      <p:ext uri="{BB962C8B-B14F-4D97-AF65-F5344CB8AC3E}">
        <p14:creationId xmlns:p14="http://schemas.microsoft.com/office/powerpoint/2010/main" val="686726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2970E-F2DD-DC75-E44F-EBA7D019D88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9B12589-FF8E-B072-0800-FEA942B25C00}"/>
              </a:ext>
            </a:extLst>
          </p:cNvPr>
          <p:cNvSpPr>
            <a:spLocks noGrp="1"/>
          </p:cNvSpPr>
          <p:nvPr>
            <p:ph type="dt" sz="half" idx="10"/>
          </p:nvPr>
        </p:nvSpPr>
        <p:spPr/>
        <p:txBody>
          <a:bodyPr/>
          <a:lstStyle/>
          <a:p>
            <a:fld id="{A6CDE5A4-85E9-A845-8F8E-525211654FD4}" type="datetime1">
              <a:rPr lang="en-IN" smtClean="0"/>
              <a:t>14-02-2025</a:t>
            </a:fld>
            <a:endParaRPr lang="en-US"/>
          </a:p>
        </p:txBody>
      </p:sp>
      <p:sp>
        <p:nvSpPr>
          <p:cNvPr id="4" name="Footer Placeholder 3">
            <a:extLst>
              <a:ext uri="{FF2B5EF4-FFF2-40B4-BE49-F238E27FC236}">
                <a16:creationId xmlns:a16="http://schemas.microsoft.com/office/drawing/2014/main" id="{7FDFABF6-E74C-3084-CC57-5B3284CBE4F6}"/>
              </a:ext>
            </a:extLst>
          </p:cNvPr>
          <p:cNvSpPr>
            <a:spLocks noGrp="1"/>
          </p:cNvSpPr>
          <p:nvPr>
            <p:ph type="ftr" sz="quarter" idx="11"/>
          </p:nvPr>
        </p:nvSpPr>
        <p:spPr/>
        <p:txBody>
          <a:bodyPr/>
          <a:lstStyle/>
          <a:p>
            <a:r>
              <a:rPr lang="en-US"/>
              <a:t>Health Informatics Group, CDAC Noida </a:t>
            </a:r>
          </a:p>
        </p:txBody>
      </p:sp>
      <p:sp>
        <p:nvSpPr>
          <p:cNvPr id="5" name="Slide Number Placeholder 4">
            <a:extLst>
              <a:ext uri="{FF2B5EF4-FFF2-40B4-BE49-F238E27FC236}">
                <a16:creationId xmlns:a16="http://schemas.microsoft.com/office/drawing/2014/main" id="{9A3CA388-23A0-0C31-C5DC-9941E1951D12}"/>
              </a:ext>
            </a:extLst>
          </p:cNvPr>
          <p:cNvSpPr>
            <a:spLocks noGrp="1"/>
          </p:cNvSpPr>
          <p:nvPr>
            <p:ph type="sldNum" sz="quarter" idx="12"/>
          </p:nvPr>
        </p:nvSpPr>
        <p:spPr/>
        <p:txBody>
          <a:bodyPr/>
          <a:lstStyle/>
          <a:p>
            <a:fld id="{B183AEFC-E1BA-2145-ABB9-36D9F515A692}" type="slidenum">
              <a:rPr lang="en-US" smtClean="0"/>
              <a:t>‹#›</a:t>
            </a:fld>
            <a:endParaRPr lang="en-US"/>
          </a:p>
        </p:txBody>
      </p:sp>
    </p:spTree>
    <p:extLst>
      <p:ext uri="{BB962C8B-B14F-4D97-AF65-F5344CB8AC3E}">
        <p14:creationId xmlns:p14="http://schemas.microsoft.com/office/powerpoint/2010/main" val="4099712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279289-4AE3-F9A9-C838-091049E45E1F}"/>
              </a:ext>
            </a:extLst>
          </p:cNvPr>
          <p:cNvSpPr>
            <a:spLocks noGrp="1"/>
          </p:cNvSpPr>
          <p:nvPr>
            <p:ph type="dt" sz="half" idx="10"/>
          </p:nvPr>
        </p:nvSpPr>
        <p:spPr/>
        <p:txBody>
          <a:bodyPr/>
          <a:lstStyle/>
          <a:p>
            <a:fld id="{59541151-D166-0F41-9313-B07DE506B97B}" type="datetime1">
              <a:rPr lang="en-IN" smtClean="0"/>
              <a:t>14-02-2025</a:t>
            </a:fld>
            <a:endParaRPr lang="en-US"/>
          </a:p>
        </p:txBody>
      </p:sp>
      <p:sp>
        <p:nvSpPr>
          <p:cNvPr id="3" name="Footer Placeholder 2">
            <a:extLst>
              <a:ext uri="{FF2B5EF4-FFF2-40B4-BE49-F238E27FC236}">
                <a16:creationId xmlns:a16="http://schemas.microsoft.com/office/drawing/2014/main" id="{235B22C6-74D5-4CC0-F7A9-09F9E497ACAB}"/>
              </a:ext>
            </a:extLst>
          </p:cNvPr>
          <p:cNvSpPr>
            <a:spLocks noGrp="1"/>
          </p:cNvSpPr>
          <p:nvPr>
            <p:ph type="ftr" sz="quarter" idx="11"/>
          </p:nvPr>
        </p:nvSpPr>
        <p:spPr/>
        <p:txBody>
          <a:bodyPr/>
          <a:lstStyle/>
          <a:p>
            <a:r>
              <a:rPr lang="en-US"/>
              <a:t>Health Informatics Group, CDAC Noida </a:t>
            </a:r>
          </a:p>
        </p:txBody>
      </p:sp>
      <p:sp>
        <p:nvSpPr>
          <p:cNvPr id="4" name="Slide Number Placeholder 3">
            <a:extLst>
              <a:ext uri="{FF2B5EF4-FFF2-40B4-BE49-F238E27FC236}">
                <a16:creationId xmlns:a16="http://schemas.microsoft.com/office/drawing/2014/main" id="{48AD07FA-A459-37A1-DD62-46D2C88CF355}"/>
              </a:ext>
            </a:extLst>
          </p:cNvPr>
          <p:cNvSpPr>
            <a:spLocks noGrp="1"/>
          </p:cNvSpPr>
          <p:nvPr>
            <p:ph type="sldNum" sz="quarter" idx="12"/>
          </p:nvPr>
        </p:nvSpPr>
        <p:spPr/>
        <p:txBody>
          <a:bodyPr/>
          <a:lstStyle/>
          <a:p>
            <a:fld id="{B183AEFC-E1BA-2145-ABB9-36D9F515A692}" type="slidenum">
              <a:rPr lang="en-US" smtClean="0"/>
              <a:t>‹#›</a:t>
            </a:fld>
            <a:endParaRPr lang="en-US"/>
          </a:p>
        </p:txBody>
      </p:sp>
    </p:spTree>
    <p:extLst>
      <p:ext uri="{BB962C8B-B14F-4D97-AF65-F5344CB8AC3E}">
        <p14:creationId xmlns:p14="http://schemas.microsoft.com/office/powerpoint/2010/main" val="682944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B5E7E-405D-9444-3FFC-FE59A8F13A4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90C92A2E-CE6D-7B77-3E96-B46CCFF1CA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849451B-C0E6-83A7-4CD9-5DE8A6DD7A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B35B187-473E-E88C-A9F7-DC4C77BF8286}"/>
              </a:ext>
            </a:extLst>
          </p:cNvPr>
          <p:cNvSpPr>
            <a:spLocks noGrp="1"/>
          </p:cNvSpPr>
          <p:nvPr>
            <p:ph type="dt" sz="half" idx="10"/>
          </p:nvPr>
        </p:nvSpPr>
        <p:spPr/>
        <p:txBody>
          <a:bodyPr/>
          <a:lstStyle/>
          <a:p>
            <a:fld id="{9C00EE39-3323-004C-8960-5A9D45CB2C6C}" type="datetime1">
              <a:rPr lang="en-IN" smtClean="0"/>
              <a:t>14-02-2025</a:t>
            </a:fld>
            <a:endParaRPr lang="en-US"/>
          </a:p>
        </p:txBody>
      </p:sp>
      <p:sp>
        <p:nvSpPr>
          <p:cNvPr id="6" name="Footer Placeholder 5">
            <a:extLst>
              <a:ext uri="{FF2B5EF4-FFF2-40B4-BE49-F238E27FC236}">
                <a16:creationId xmlns:a16="http://schemas.microsoft.com/office/drawing/2014/main" id="{D8780C66-96F7-5FC7-CAC6-288FE452A039}"/>
              </a:ext>
            </a:extLst>
          </p:cNvPr>
          <p:cNvSpPr>
            <a:spLocks noGrp="1"/>
          </p:cNvSpPr>
          <p:nvPr>
            <p:ph type="ftr" sz="quarter" idx="11"/>
          </p:nvPr>
        </p:nvSpPr>
        <p:spPr/>
        <p:txBody>
          <a:bodyPr/>
          <a:lstStyle/>
          <a:p>
            <a:r>
              <a:rPr lang="en-US"/>
              <a:t>Health Informatics Group, CDAC Noida </a:t>
            </a:r>
          </a:p>
        </p:txBody>
      </p:sp>
      <p:sp>
        <p:nvSpPr>
          <p:cNvPr id="7" name="Slide Number Placeholder 6">
            <a:extLst>
              <a:ext uri="{FF2B5EF4-FFF2-40B4-BE49-F238E27FC236}">
                <a16:creationId xmlns:a16="http://schemas.microsoft.com/office/drawing/2014/main" id="{702409AD-E2E5-AB0F-EFF8-23DEE5F9EC23}"/>
              </a:ext>
            </a:extLst>
          </p:cNvPr>
          <p:cNvSpPr>
            <a:spLocks noGrp="1"/>
          </p:cNvSpPr>
          <p:nvPr>
            <p:ph type="sldNum" sz="quarter" idx="12"/>
          </p:nvPr>
        </p:nvSpPr>
        <p:spPr/>
        <p:txBody>
          <a:bodyPr/>
          <a:lstStyle/>
          <a:p>
            <a:fld id="{B183AEFC-E1BA-2145-ABB9-36D9F515A692}" type="slidenum">
              <a:rPr lang="en-US" smtClean="0"/>
              <a:t>‹#›</a:t>
            </a:fld>
            <a:endParaRPr lang="en-US"/>
          </a:p>
        </p:txBody>
      </p:sp>
    </p:spTree>
    <p:extLst>
      <p:ext uri="{BB962C8B-B14F-4D97-AF65-F5344CB8AC3E}">
        <p14:creationId xmlns:p14="http://schemas.microsoft.com/office/powerpoint/2010/main" val="2918380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9859F-E247-263C-68A9-5DCF6343EDF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4F4FC8B-DC9B-61AC-03C2-78236DF67E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83ECF2D-B7CF-D02F-1A28-EB8CD481D9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BF80FF4-7D16-1DB1-5CF8-B545953CEB8D}"/>
              </a:ext>
            </a:extLst>
          </p:cNvPr>
          <p:cNvSpPr>
            <a:spLocks noGrp="1"/>
          </p:cNvSpPr>
          <p:nvPr>
            <p:ph type="dt" sz="half" idx="10"/>
          </p:nvPr>
        </p:nvSpPr>
        <p:spPr/>
        <p:txBody>
          <a:bodyPr/>
          <a:lstStyle/>
          <a:p>
            <a:fld id="{948B83BD-E886-DD40-B7FF-9797E39D68B8}" type="datetime1">
              <a:rPr lang="en-IN" smtClean="0"/>
              <a:t>14-02-2025</a:t>
            </a:fld>
            <a:endParaRPr lang="en-US"/>
          </a:p>
        </p:txBody>
      </p:sp>
      <p:sp>
        <p:nvSpPr>
          <p:cNvPr id="6" name="Footer Placeholder 5">
            <a:extLst>
              <a:ext uri="{FF2B5EF4-FFF2-40B4-BE49-F238E27FC236}">
                <a16:creationId xmlns:a16="http://schemas.microsoft.com/office/drawing/2014/main" id="{8EB4661F-67A1-3A42-CAF6-4756B798E9CB}"/>
              </a:ext>
            </a:extLst>
          </p:cNvPr>
          <p:cNvSpPr>
            <a:spLocks noGrp="1"/>
          </p:cNvSpPr>
          <p:nvPr>
            <p:ph type="ftr" sz="quarter" idx="11"/>
          </p:nvPr>
        </p:nvSpPr>
        <p:spPr/>
        <p:txBody>
          <a:bodyPr/>
          <a:lstStyle/>
          <a:p>
            <a:r>
              <a:rPr lang="en-US"/>
              <a:t>Health Informatics Group, CDAC Noida </a:t>
            </a:r>
          </a:p>
        </p:txBody>
      </p:sp>
      <p:sp>
        <p:nvSpPr>
          <p:cNvPr id="7" name="Slide Number Placeholder 6">
            <a:extLst>
              <a:ext uri="{FF2B5EF4-FFF2-40B4-BE49-F238E27FC236}">
                <a16:creationId xmlns:a16="http://schemas.microsoft.com/office/drawing/2014/main" id="{8F64444E-07C3-0C34-7512-25E18DEF7DBD}"/>
              </a:ext>
            </a:extLst>
          </p:cNvPr>
          <p:cNvSpPr>
            <a:spLocks noGrp="1"/>
          </p:cNvSpPr>
          <p:nvPr>
            <p:ph type="sldNum" sz="quarter" idx="12"/>
          </p:nvPr>
        </p:nvSpPr>
        <p:spPr/>
        <p:txBody>
          <a:bodyPr/>
          <a:lstStyle/>
          <a:p>
            <a:fld id="{B183AEFC-E1BA-2145-ABB9-36D9F515A692}" type="slidenum">
              <a:rPr lang="en-US" smtClean="0"/>
              <a:t>‹#›</a:t>
            </a:fld>
            <a:endParaRPr lang="en-US"/>
          </a:p>
        </p:txBody>
      </p:sp>
    </p:spTree>
    <p:extLst>
      <p:ext uri="{BB962C8B-B14F-4D97-AF65-F5344CB8AC3E}">
        <p14:creationId xmlns:p14="http://schemas.microsoft.com/office/powerpoint/2010/main" val="2616510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D0914-A1D4-A432-D96C-FCD42F9C808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F069E16-F128-03F7-5686-9B125641C6A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1339E39-9D6A-5107-BFDB-FDB998A516D9}"/>
              </a:ext>
            </a:extLst>
          </p:cNvPr>
          <p:cNvSpPr>
            <a:spLocks noGrp="1"/>
          </p:cNvSpPr>
          <p:nvPr>
            <p:ph type="dt" sz="half" idx="10"/>
          </p:nvPr>
        </p:nvSpPr>
        <p:spPr/>
        <p:txBody>
          <a:bodyPr/>
          <a:lstStyle/>
          <a:p>
            <a:fld id="{02E0DC2B-3357-814B-94A4-74008761707D}" type="datetime1">
              <a:rPr lang="en-IN" smtClean="0"/>
              <a:t>14-02-2025</a:t>
            </a:fld>
            <a:endParaRPr lang="en-US"/>
          </a:p>
        </p:txBody>
      </p:sp>
      <p:sp>
        <p:nvSpPr>
          <p:cNvPr id="5" name="Footer Placeholder 4">
            <a:extLst>
              <a:ext uri="{FF2B5EF4-FFF2-40B4-BE49-F238E27FC236}">
                <a16:creationId xmlns:a16="http://schemas.microsoft.com/office/drawing/2014/main" id="{F4F0AD00-4261-4C6D-E622-9008B018DE32}"/>
              </a:ext>
            </a:extLst>
          </p:cNvPr>
          <p:cNvSpPr>
            <a:spLocks noGrp="1"/>
          </p:cNvSpPr>
          <p:nvPr>
            <p:ph type="ftr" sz="quarter" idx="11"/>
          </p:nvPr>
        </p:nvSpPr>
        <p:spPr/>
        <p:txBody>
          <a:bodyPr/>
          <a:lstStyle/>
          <a:p>
            <a:r>
              <a:rPr lang="en-US"/>
              <a:t>Health Informatics Group, CDAC Noida </a:t>
            </a:r>
          </a:p>
        </p:txBody>
      </p:sp>
      <p:sp>
        <p:nvSpPr>
          <p:cNvPr id="6" name="Slide Number Placeholder 5">
            <a:extLst>
              <a:ext uri="{FF2B5EF4-FFF2-40B4-BE49-F238E27FC236}">
                <a16:creationId xmlns:a16="http://schemas.microsoft.com/office/drawing/2014/main" id="{165DAEE6-D88C-EF32-AA1F-36BBB1E25B61}"/>
              </a:ext>
            </a:extLst>
          </p:cNvPr>
          <p:cNvSpPr>
            <a:spLocks noGrp="1"/>
          </p:cNvSpPr>
          <p:nvPr>
            <p:ph type="sldNum" sz="quarter" idx="12"/>
          </p:nvPr>
        </p:nvSpPr>
        <p:spPr/>
        <p:txBody>
          <a:bodyPr/>
          <a:lstStyle/>
          <a:p>
            <a:fld id="{B183AEFC-E1BA-2145-ABB9-36D9F515A692}" type="slidenum">
              <a:rPr lang="en-US" smtClean="0"/>
              <a:t>‹#›</a:t>
            </a:fld>
            <a:endParaRPr lang="en-US"/>
          </a:p>
        </p:txBody>
      </p:sp>
    </p:spTree>
    <p:extLst>
      <p:ext uri="{BB962C8B-B14F-4D97-AF65-F5344CB8AC3E}">
        <p14:creationId xmlns:p14="http://schemas.microsoft.com/office/powerpoint/2010/main" val="1399786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E656DE-139F-86DF-B4A3-9D035691BBF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25A70A7-9DF0-2DF2-2E66-BDB7137AEBE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BBE0731-2538-7273-1F77-0E0513A83346}"/>
              </a:ext>
            </a:extLst>
          </p:cNvPr>
          <p:cNvSpPr>
            <a:spLocks noGrp="1"/>
          </p:cNvSpPr>
          <p:nvPr>
            <p:ph type="dt" sz="half" idx="10"/>
          </p:nvPr>
        </p:nvSpPr>
        <p:spPr/>
        <p:txBody>
          <a:bodyPr/>
          <a:lstStyle/>
          <a:p>
            <a:fld id="{A001B335-992F-5F41-95D7-FAA77837FE4C}" type="datetime1">
              <a:rPr lang="en-IN" smtClean="0"/>
              <a:t>14-02-2025</a:t>
            </a:fld>
            <a:endParaRPr lang="en-US"/>
          </a:p>
        </p:txBody>
      </p:sp>
      <p:sp>
        <p:nvSpPr>
          <p:cNvPr id="5" name="Footer Placeholder 4">
            <a:extLst>
              <a:ext uri="{FF2B5EF4-FFF2-40B4-BE49-F238E27FC236}">
                <a16:creationId xmlns:a16="http://schemas.microsoft.com/office/drawing/2014/main" id="{9FB240A4-C7C2-44EC-9BB7-62DB0245928C}"/>
              </a:ext>
            </a:extLst>
          </p:cNvPr>
          <p:cNvSpPr>
            <a:spLocks noGrp="1"/>
          </p:cNvSpPr>
          <p:nvPr>
            <p:ph type="ftr" sz="quarter" idx="11"/>
          </p:nvPr>
        </p:nvSpPr>
        <p:spPr/>
        <p:txBody>
          <a:bodyPr/>
          <a:lstStyle/>
          <a:p>
            <a:r>
              <a:rPr lang="en-US"/>
              <a:t>Health Informatics Group, CDAC Noida </a:t>
            </a:r>
          </a:p>
        </p:txBody>
      </p:sp>
      <p:sp>
        <p:nvSpPr>
          <p:cNvPr id="6" name="Slide Number Placeholder 5">
            <a:extLst>
              <a:ext uri="{FF2B5EF4-FFF2-40B4-BE49-F238E27FC236}">
                <a16:creationId xmlns:a16="http://schemas.microsoft.com/office/drawing/2014/main" id="{48C4ECFB-12FF-11D6-511A-076DA2C14002}"/>
              </a:ext>
            </a:extLst>
          </p:cNvPr>
          <p:cNvSpPr>
            <a:spLocks noGrp="1"/>
          </p:cNvSpPr>
          <p:nvPr>
            <p:ph type="sldNum" sz="quarter" idx="12"/>
          </p:nvPr>
        </p:nvSpPr>
        <p:spPr/>
        <p:txBody>
          <a:bodyPr/>
          <a:lstStyle/>
          <a:p>
            <a:fld id="{B183AEFC-E1BA-2145-ABB9-36D9F515A692}" type="slidenum">
              <a:rPr lang="en-US" smtClean="0"/>
              <a:t>‹#›</a:t>
            </a:fld>
            <a:endParaRPr lang="en-US"/>
          </a:p>
        </p:txBody>
      </p:sp>
    </p:spTree>
    <p:extLst>
      <p:ext uri="{BB962C8B-B14F-4D97-AF65-F5344CB8AC3E}">
        <p14:creationId xmlns:p14="http://schemas.microsoft.com/office/powerpoint/2010/main" val="4150772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A4BB27-B8DB-7EBC-696E-BDD3ADBDBC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85EDF5-86EB-C831-C9BD-0C790238A2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FCDB5F-5457-07EA-4FE0-FB5BF9FAF0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E4FF7B-28BB-9741-A102-B7F31D0C91BB}" type="datetime1">
              <a:rPr lang="en-IN" smtClean="0"/>
              <a:t>14-02-2025</a:t>
            </a:fld>
            <a:endParaRPr lang="en-US"/>
          </a:p>
        </p:txBody>
      </p:sp>
      <p:sp>
        <p:nvSpPr>
          <p:cNvPr id="5" name="Footer Placeholder 4">
            <a:extLst>
              <a:ext uri="{FF2B5EF4-FFF2-40B4-BE49-F238E27FC236}">
                <a16:creationId xmlns:a16="http://schemas.microsoft.com/office/drawing/2014/main" id="{678A7753-E5AB-85A5-5F3B-2FA8327301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Health Informatics Group, CDAC Noida </a:t>
            </a:r>
          </a:p>
        </p:txBody>
      </p:sp>
      <p:sp>
        <p:nvSpPr>
          <p:cNvPr id="6" name="Slide Number Placeholder 5">
            <a:extLst>
              <a:ext uri="{FF2B5EF4-FFF2-40B4-BE49-F238E27FC236}">
                <a16:creationId xmlns:a16="http://schemas.microsoft.com/office/drawing/2014/main" id="{A9274A66-9DC6-4A0A-ADA1-C9C3BD51A9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83AEFC-E1BA-2145-ABB9-36D9F515A692}" type="slidenum">
              <a:rPr lang="en-US" smtClean="0"/>
              <a:t>‹#›</a:t>
            </a:fld>
            <a:endParaRPr lang="en-US"/>
          </a:p>
        </p:txBody>
      </p:sp>
    </p:spTree>
    <p:extLst>
      <p:ext uri="{BB962C8B-B14F-4D97-AF65-F5344CB8AC3E}">
        <p14:creationId xmlns:p14="http://schemas.microsoft.com/office/powerpoint/2010/main" val="1551836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7.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10.jp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214826" y="167038"/>
            <a:ext cx="2894134" cy="612320"/>
          </a:xfrm>
          <a:prstGeom prst="rect">
            <a:avLst/>
          </a:prstGeom>
        </p:spPr>
        <p:txBody>
          <a:bodyPr vert="horz" anchor="b">
            <a:normAutofit/>
          </a:bodyPr>
          <a:lstStyle>
            <a:lvl1pPr algn="ctr" rtl="0" eaLnBrk="1" latinLnBrk="0" hangingPunct="1">
              <a:spcBef>
                <a:spcPct val="0"/>
              </a:spcBef>
              <a:buNone/>
              <a:defRPr kumimoji="0" sz="4200" kern="1200">
                <a:solidFill>
                  <a:schemeClr val="accent1"/>
                </a:solidFill>
                <a:latin typeface="+mj-lt"/>
                <a:ea typeface="+mj-ea"/>
                <a:cs typeface="+mj-cs"/>
              </a:defRPr>
            </a:lvl1pPr>
          </a:lstStyle>
          <a:p>
            <a:pPr algn="l"/>
            <a:r>
              <a:rPr lang="en-US" sz="3200" b="1" dirty="0" smtClean="0">
                <a:solidFill>
                  <a:schemeClr val="accent5">
                    <a:lumMod val="75000"/>
                  </a:schemeClr>
                </a:solidFill>
              </a:rPr>
              <a:t>e-</a:t>
            </a:r>
            <a:r>
              <a:rPr lang="en-US" sz="3200" b="1" dirty="0" err="1" smtClean="0">
                <a:solidFill>
                  <a:schemeClr val="accent5">
                    <a:lumMod val="75000"/>
                  </a:schemeClr>
                </a:solidFill>
              </a:rPr>
              <a:t>Upkaran</a:t>
            </a:r>
            <a:endParaRPr lang="en-IN" sz="3200" b="1" dirty="0">
              <a:solidFill>
                <a:schemeClr val="accent5">
                  <a:lumMod val="75000"/>
                </a:schemeClr>
              </a:solidFill>
            </a:endParaRPr>
          </a:p>
        </p:txBody>
      </p:sp>
      <p:sp>
        <p:nvSpPr>
          <p:cNvPr id="8" name="TextBox 7"/>
          <p:cNvSpPr txBox="1"/>
          <p:nvPr/>
        </p:nvSpPr>
        <p:spPr>
          <a:xfrm>
            <a:off x="5483434" y="1056166"/>
            <a:ext cx="6455270" cy="767774"/>
          </a:xfrm>
          <a:prstGeom prst="rect">
            <a:avLst/>
          </a:prstGeom>
          <a:noFill/>
        </p:spPr>
        <p:txBody>
          <a:bodyPr wrap="square" rtlCol="0">
            <a:spAutoFit/>
          </a:bodyPr>
          <a:lstStyle/>
          <a:p>
            <a:pPr algn="just">
              <a:lnSpc>
                <a:spcPts val="1800"/>
              </a:lnSpc>
            </a:pPr>
            <a:r>
              <a:rPr lang="en-US" sz="1600" b="1" dirty="0">
                <a:solidFill>
                  <a:srgbClr val="C00000"/>
                </a:solidFill>
              </a:rPr>
              <a:t>e-Upkaran</a:t>
            </a:r>
            <a:r>
              <a:rPr lang="en-US" sz="1600" b="1" dirty="0"/>
              <a:t>, </a:t>
            </a:r>
            <a:r>
              <a:rPr lang="en-US" sz="1200" b="1" dirty="0"/>
              <a:t>is C-DAC’s Equipment Management and Maintenance System for biomedical equipments in hospitals. The system ensures that these equipments remain safe for its intended use, the operational life is maximized and lifetime costs is minimized.</a:t>
            </a:r>
            <a:endParaRPr lang="en-GB" sz="1200" b="1" dirty="0"/>
          </a:p>
        </p:txBody>
      </p:sp>
      <p:pic>
        <p:nvPicPr>
          <p:cNvPr id="9" name="Picture 8" descr="e-upkaran1.jpg"/>
          <p:cNvPicPr>
            <a:picLocks noChangeAspect="1"/>
          </p:cNvPicPr>
          <p:nvPr/>
        </p:nvPicPr>
        <p:blipFill>
          <a:blip r:embed="rId2" cstate="print"/>
          <a:stretch>
            <a:fillRect/>
          </a:stretch>
        </p:blipFill>
        <p:spPr>
          <a:xfrm>
            <a:off x="5660209" y="3795945"/>
            <a:ext cx="6161532" cy="1756773"/>
          </a:xfrm>
          <a:prstGeom prst="rect">
            <a:avLst/>
          </a:prstGeom>
          <a:ln>
            <a:solidFill>
              <a:schemeClr val="tx1"/>
            </a:solidFill>
          </a:ln>
        </p:spPr>
      </p:pic>
      <p:sp>
        <p:nvSpPr>
          <p:cNvPr id="10" name="Rounded Rectangle 9"/>
          <p:cNvSpPr/>
          <p:nvPr/>
        </p:nvSpPr>
        <p:spPr>
          <a:xfrm>
            <a:off x="346720" y="3795944"/>
            <a:ext cx="4979548" cy="1756773"/>
          </a:xfrm>
          <a:prstGeom prst="roundRect">
            <a:avLst/>
          </a:prstGeom>
          <a:solidFill>
            <a:srgbClr val="CFEFFD"/>
          </a:solidFill>
          <a:ln w="11303"/>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ounded Rectangle 10"/>
          <p:cNvSpPr/>
          <p:nvPr/>
        </p:nvSpPr>
        <p:spPr>
          <a:xfrm>
            <a:off x="5595759" y="1950387"/>
            <a:ext cx="6247248" cy="1643074"/>
          </a:xfrm>
          <a:prstGeom prst="roundRect">
            <a:avLst/>
          </a:prstGeom>
          <a:solidFill>
            <a:srgbClr val="CFEFFD"/>
          </a:solidFill>
          <a:ln w="11303"/>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descr="e-upkaran.jpg"/>
          <p:cNvPicPr>
            <a:picLocks noChangeAspect="1"/>
          </p:cNvPicPr>
          <p:nvPr/>
        </p:nvPicPr>
        <p:blipFill>
          <a:blip r:embed="rId3"/>
          <a:stretch>
            <a:fillRect/>
          </a:stretch>
        </p:blipFill>
        <p:spPr>
          <a:xfrm>
            <a:off x="346719" y="1061434"/>
            <a:ext cx="4979548" cy="2483212"/>
          </a:xfrm>
          <a:prstGeom prst="rect">
            <a:avLst/>
          </a:prstGeom>
        </p:spPr>
      </p:pic>
      <p:sp>
        <p:nvSpPr>
          <p:cNvPr id="13" name="Rectangle 12"/>
          <p:cNvSpPr/>
          <p:nvPr/>
        </p:nvSpPr>
        <p:spPr>
          <a:xfrm>
            <a:off x="5829219" y="2039122"/>
            <a:ext cx="1879904" cy="323165"/>
          </a:xfrm>
          <a:prstGeom prst="rect">
            <a:avLst/>
          </a:prstGeom>
        </p:spPr>
        <p:txBody>
          <a:bodyPr wrap="square">
            <a:spAutoFit/>
          </a:bodyPr>
          <a:lstStyle/>
          <a:p>
            <a:r>
              <a:rPr lang="en-GB" sz="1500" b="1" dirty="0" smtClean="0">
                <a:solidFill>
                  <a:srgbClr val="C00000"/>
                </a:solidFill>
              </a:rPr>
              <a:t>KEY FEATURES</a:t>
            </a:r>
            <a:endParaRPr lang="en-GB" sz="1500" b="1" dirty="0">
              <a:solidFill>
                <a:srgbClr val="C00000"/>
              </a:solidFill>
            </a:endParaRPr>
          </a:p>
        </p:txBody>
      </p:sp>
      <p:sp>
        <p:nvSpPr>
          <p:cNvPr id="14" name="Rectangle 1"/>
          <p:cNvSpPr>
            <a:spLocks noChangeArrowheads="1"/>
          </p:cNvSpPr>
          <p:nvPr/>
        </p:nvSpPr>
        <p:spPr bwMode="auto">
          <a:xfrm>
            <a:off x="5837820" y="2310256"/>
            <a:ext cx="4718593"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q"/>
              <a:tabLst/>
            </a:pPr>
            <a:r>
              <a:rPr lang="en-GB" sz="1200" dirty="0" smtClean="0">
                <a:latin typeface="+mj-lt"/>
                <a:ea typeface="Cambria" pitchFamily="18" charset="0"/>
                <a:cs typeface="Arial" pitchFamily="34" charset="0"/>
              </a:rPr>
              <a:t>  Real </a:t>
            </a:r>
            <a:r>
              <a:rPr lang="en-GB" sz="1200" dirty="0">
                <a:latin typeface="+mj-lt"/>
                <a:ea typeface="Cambria" pitchFamily="18" charset="0"/>
                <a:cs typeface="Arial" pitchFamily="34" charset="0"/>
              </a:rPr>
              <a:t>time e</a:t>
            </a:r>
            <a:r>
              <a:rPr kumimoji="0" lang="en-GB" sz="1200" b="0" i="0" u="none" strike="noStrike" cap="none" normalizeH="0" baseline="0" dirty="0">
                <a:ln>
                  <a:noFill/>
                </a:ln>
                <a:solidFill>
                  <a:schemeClr val="tx1"/>
                </a:solidFill>
                <a:effectLst/>
                <a:latin typeface="+mj-lt"/>
                <a:ea typeface="Cambria" pitchFamily="18" charset="0"/>
                <a:cs typeface="Arial" pitchFamily="34" charset="0"/>
              </a:rPr>
              <a:t>quipment status monitoring</a:t>
            </a:r>
            <a:endParaRPr kumimoji="0" lang="en-GB" sz="1200" b="0" i="0" u="none" strike="noStrike" cap="none" normalizeH="0" baseline="0" dirty="0">
              <a:ln>
                <a:noFill/>
              </a:ln>
              <a:solidFill>
                <a:schemeClr val="tx1"/>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r>
              <a:rPr kumimoji="0" lang="en-GB" sz="1200" b="0" i="0" u="none" strike="noStrike" cap="none" normalizeH="0" baseline="0" dirty="0" smtClean="0">
                <a:ln>
                  <a:noFill/>
                </a:ln>
                <a:solidFill>
                  <a:schemeClr val="tx1"/>
                </a:solidFill>
                <a:effectLst/>
                <a:latin typeface="+mj-lt"/>
                <a:ea typeface="Cambria" pitchFamily="18" charset="0"/>
                <a:cs typeface="Arial" pitchFamily="34" charset="0"/>
              </a:rPr>
              <a:t>  Complaint </a:t>
            </a:r>
            <a:r>
              <a:rPr kumimoji="0" lang="en-GB" sz="1200" b="0" i="0" u="none" strike="noStrike" cap="none" normalizeH="0" baseline="0" dirty="0">
                <a:ln>
                  <a:noFill/>
                </a:ln>
                <a:solidFill>
                  <a:schemeClr val="tx1"/>
                </a:solidFill>
                <a:effectLst/>
                <a:latin typeface="+mj-lt"/>
                <a:ea typeface="Cambria" pitchFamily="18" charset="0"/>
                <a:cs typeface="Arial" pitchFamily="34" charset="0"/>
              </a:rPr>
              <a:t>monitoring and management</a:t>
            </a:r>
            <a:endParaRPr kumimoji="0" lang="en-GB" sz="1200" b="0" i="0" u="none" strike="noStrike" cap="none" normalizeH="0" baseline="0" dirty="0">
              <a:ln>
                <a:noFill/>
              </a:ln>
              <a:solidFill>
                <a:schemeClr val="tx1"/>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r>
              <a:rPr kumimoji="0" lang="en-GB" sz="1200" b="0" i="0" u="none" strike="noStrike" cap="none" normalizeH="0" baseline="0" dirty="0" smtClean="0">
                <a:ln>
                  <a:noFill/>
                </a:ln>
                <a:solidFill>
                  <a:schemeClr val="tx1"/>
                </a:solidFill>
                <a:effectLst/>
                <a:latin typeface="+mj-lt"/>
                <a:ea typeface="Cambria" pitchFamily="18" charset="0"/>
                <a:cs typeface="Arial" pitchFamily="34" charset="0"/>
              </a:rPr>
              <a:t>  Preventive </a:t>
            </a:r>
            <a:r>
              <a:rPr kumimoji="0" lang="en-GB" sz="1200" b="0" i="0" u="none" strike="noStrike" cap="none" normalizeH="0" baseline="0" dirty="0">
                <a:ln>
                  <a:noFill/>
                </a:ln>
                <a:solidFill>
                  <a:schemeClr val="tx1"/>
                </a:solidFill>
                <a:effectLst/>
                <a:latin typeface="+mj-lt"/>
                <a:ea typeface="Cambria" pitchFamily="18" charset="0"/>
                <a:cs typeface="Arial" pitchFamily="34" charset="0"/>
              </a:rPr>
              <a:t>maintenance service monitoring </a:t>
            </a:r>
            <a:endParaRPr kumimoji="0" lang="en-GB" sz="1200" b="0" i="0" u="none" strike="noStrike" cap="none" normalizeH="0" baseline="0" dirty="0">
              <a:ln>
                <a:noFill/>
              </a:ln>
              <a:solidFill>
                <a:schemeClr val="tx1"/>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r>
              <a:rPr kumimoji="0" lang="en-GB" sz="1200" b="0" i="0" u="none" strike="noStrike" cap="none" normalizeH="0" baseline="0" dirty="0" smtClean="0">
                <a:ln>
                  <a:noFill/>
                </a:ln>
                <a:solidFill>
                  <a:schemeClr val="tx1"/>
                </a:solidFill>
                <a:effectLst/>
                <a:latin typeface="+mj-lt"/>
                <a:ea typeface="Cambria" pitchFamily="18" charset="0"/>
                <a:cs typeface="Arial" pitchFamily="34" charset="0"/>
              </a:rPr>
              <a:t>  Centralized </a:t>
            </a:r>
            <a:r>
              <a:rPr kumimoji="0" lang="en-GB" sz="1200" b="0" i="0" u="none" strike="noStrike" cap="none" normalizeH="0" baseline="0" dirty="0">
                <a:ln>
                  <a:noFill/>
                </a:ln>
                <a:solidFill>
                  <a:schemeClr val="tx1"/>
                </a:solidFill>
                <a:effectLst/>
                <a:latin typeface="+mj-lt"/>
                <a:ea typeface="Cambria" pitchFamily="18" charset="0"/>
                <a:cs typeface="Arial" pitchFamily="34" charset="0"/>
              </a:rPr>
              <a:t>workshop monitoring   </a:t>
            </a:r>
            <a:endParaRPr kumimoji="0" lang="en-GB" sz="1200" b="0" i="0" u="none" strike="noStrike" cap="none" normalizeH="0" baseline="0" dirty="0">
              <a:ln>
                <a:noFill/>
              </a:ln>
              <a:solidFill>
                <a:schemeClr val="tx1"/>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r>
              <a:rPr kumimoji="0" lang="en-GB" sz="1200" b="0" i="0" u="none" strike="noStrike" cap="none" normalizeH="0" baseline="0" dirty="0" smtClean="0">
                <a:ln>
                  <a:noFill/>
                </a:ln>
                <a:solidFill>
                  <a:schemeClr val="tx1"/>
                </a:solidFill>
                <a:effectLst/>
                <a:latin typeface="+mj-lt"/>
                <a:ea typeface="Cambria" pitchFamily="18" charset="0"/>
                <a:cs typeface="Arial" pitchFamily="34" charset="0"/>
              </a:rPr>
              <a:t>  Configurable </a:t>
            </a:r>
            <a:r>
              <a:rPr kumimoji="0" lang="en-GB" sz="1200" b="0" i="0" u="none" strike="noStrike" cap="none" normalizeH="0" baseline="0" dirty="0">
                <a:ln>
                  <a:noFill/>
                </a:ln>
                <a:solidFill>
                  <a:schemeClr val="tx1"/>
                </a:solidFill>
                <a:effectLst/>
                <a:latin typeface="+mj-lt"/>
                <a:ea typeface="Cambria" pitchFamily="18" charset="0"/>
                <a:cs typeface="Arial" pitchFamily="34" charset="0"/>
              </a:rPr>
              <a:t>for </a:t>
            </a:r>
            <a:r>
              <a:rPr kumimoji="0" lang="en-GB" sz="1200" b="0" i="0" u="none" strike="noStrike" cap="none" normalizeH="0" baseline="0" dirty="0" smtClean="0">
                <a:ln>
                  <a:noFill/>
                </a:ln>
                <a:solidFill>
                  <a:schemeClr val="tx1"/>
                </a:solidFill>
                <a:effectLst/>
                <a:latin typeface="+mj-lt"/>
                <a:ea typeface="Cambria" pitchFamily="18" charset="0"/>
                <a:cs typeface="Arial" pitchFamily="34" charset="0"/>
              </a:rPr>
              <a:t>multiple Laboratories</a:t>
            </a:r>
            <a:endParaRPr kumimoji="0" lang="en-GB" sz="1200" b="0" i="0" u="none" strike="noStrike" cap="none" normalizeH="0" baseline="0" dirty="0">
              <a:ln>
                <a:noFill/>
              </a:ln>
              <a:solidFill>
                <a:schemeClr val="tx1"/>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r>
              <a:rPr kumimoji="0" lang="en-GB" sz="1200" b="0" i="0" u="none" strike="noStrike" cap="none" normalizeH="0" baseline="0" dirty="0" smtClean="0">
                <a:ln>
                  <a:noFill/>
                </a:ln>
                <a:solidFill>
                  <a:schemeClr val="tx1"/>
                </a:solidFill>
                <a:effectLst/>
                <a:latin typeface="+mj-lt"/>
                <a:ea typeface="Cambria" pitchFamily="18" charset="0"/>
                <a:cs typeface="Arial" pitchFamily="34" charset="0"/>
              </a:rPr>
              <a:t>  GIS </a:t>
            </a:r>
            <a:r>
              <a:rPr kumimoji="0" lang="en-GB" sz="1200" b="0" i="0" u="none" strike="noStrike" cap="none" normalizeH="0" baseline="0" dirty="0">
                <a:ln>
                  <a:noFill/>
                </a:ln>
                <a:solidFill>
                  <a:schemeClr val="tx1"/>
                </a:solidFill>
                <a:effectLst/>
                <a:latin typeface="+mj-lt"/>
                <a:ea typeface="Cambria" pitchFamily="18" charset="0"/>
                <a:cs typeface="Arial" pitchFamily="34" charset="0"/>
              </a:rPr>
              <a:t>based reporting</a:t>
            </a:r>
            <a:endParaRPr kumimoji="0" lang="en-GB" sz="1200" b="0" i="0" u="none" strike="noStrike" cap="none" normalizeH="0" baseline="0" dirty="0">
              <a:ln>
                <a:noFill/>
              </a:ln>
              <a:solidFill>
                <a:schemeClr val="tx1"/>
              </a:solidFill>
              <a:effectLst/>
              <a:latin typeface="+mj-lt"/>
              <a:cs typeface="Arial" pitchFamily="34" charset="0"/>
            </a:endParaRPr>
          </a:p>
        </p:txBody>
      </p:sp>
      <p:sp>
        <p:nvSpPr>
          <p:cNvPr id="15" name="Rectangle 14"/>
          <p:cNvSpPr/>
          <p:nvPr/>
        </p:nvSpPr>
        <p:spPr>
          <a:xfrm>
            <a:off x="607819" y="4204549"/>
            <a:ext cx="4395814" cy="1200329"/>
          </a:xfrm>
          <a:prstGeom prst="rect">
            <a:avLst/>
          </a:prstGeom>
        </p:spPr>
        <p:txBody>
          <a:bodyPr wrap="square">
            <a:spAutoFit/>
          </a:bodyPr>
          <a:lstStyle/>
          <a:p>
            <a:pPr algn="just" eaLnBrk="0" fontAlgn="base" hangingPunct="0">
              <a:spcBef>
                <a:spcPct val="0"/>
              </a:spcBef>
              <a:spcAft>
                <a:spcPct val="0"/>
              </a:spcAft>
              <a:buFont typeface="Wingdings" pitchFamily="2" charset="2"/>
              <a:buChar char="q"/>
            </a:pPr>
            <a:r>
              <a:rPr lang="en-GB" sz="1200" dirty="0" smtClean="0">
                <a:solidFill>
                  <a:srgbClr val="000000"/>
                </a:solidFill>
                <a:latin typeface="+mj-lt"/>
                <a:ea typeface="Times New Roman" pitchFamily="18" charset="0"/>
                <a:cs typeface="Times New Roman" pitchFamily="18" charset="0"/>
              </a:rPr>
              <a:t>  Capture </a:t>
            </a:r>
            <a:r>
              <a:rPr lang="en-GB" sz="1200" dirty="0">
                <a:solidFill>
                  <a:srgbClr val="000000"/>
                </a:solidFill>
                <a:latin typeface="+mj-lt"/>
                <a:ea typeface="Times New Roman" pitchFamily="18" charset="0"/>
                <a:cs typeface="Times New Roman" pitchFamily="18" charset="0"/>
              </a:rPr>
              <a:t>demand of new equipments, </a:t>
            </a:r>
          </a:p>
          <a:p>
            <a:pPr algn="just" eaLnBrk="0" fontAlgn="base" hangingPunct="0">
              <a:spcBef>
                <a:spcPct val="0"/>
              </a:spcBef>
              <a:spcAft>
                <a:spcPct val="0"/>
              </a:spcAft>
              <a:buFont typeface="Wingdings" pitchFamily="2" charset="2"/>
              <a:buChar char="q"/>
            </a:pPr>
            <a:r>
              <a:rPr lang="en-GB" sz="1200" dirty="0" smtClean="0">
                <a:solidFill>
                  <a:srgbClr val="000000"/>
                </a:solidFill>
                <a:latin typeface="+mj-lt"/>
                <a:ea typeface="Times New Roman" pitchFamily="18" charset="0"/>
                <a:cs typeface="Times New Roman" pitchFamily="18" charset="0"/>
              </a:rPr>
              <a:t>  Generate </a:t>
            </a:r>
            <a:r>
              <a:rPr lang="en-GB" sz="1200" dirty="0">
                <a:solidFill>
                  <a:srgbClr val="000000"/>
                </a:solidFill>
                <a:latin typeface="+mj-lt"/>
                <a:ea typeface="Times New Roman" pitchFamily="18" charset="0"/>
                <a:cs typeface="Times New Roman" pitchFamily="18" charset="0"/>
              </a:rPr>
              <a:t>their purchase order, </a:t>
            </a:r>
          </a:p>
          <a:p>
            <a:pPr algn="just" eaLnBrk="0" fontAlgn="base" hangingPunct="0">
              <a:spcBef>
                <a:spcPct val="0"/>
              </a:spcBef>
              <a:spcAft>
                <a:spcPct val="0"/>
              </a:spcAft>
              <a:buFont typeface="Wingdings" pitchFamily="2" charset="2"/>
              <a:buChar char="q"/>
            </a:pPr>
            <a:r>
              <a:rPr lang="en-GB" sz="1200" dirty="0" smtClean="0">
                <a:solidFill>
                  <a:srgbClr val="000000"/>
                </a:solidFill>
                <a:latin typeface="+mj-lt"/>
                <a:ea typeface="Times New Roman" pitchFamily="18" charset="0"/>
                <a:cs typeface="Times New Roman" pitchFamily="18" charset="0"/>
              </a:rPr>
              <a:t>  Receive </a:t>
            </a:r>
            <a:r>
              <a:rPr lang="en-GB" sz="1200" dirty="0">
                <a:solidFill>
                  <a:srgbClr val="000000"/>
                </a:solidFill>
                <a:latin typeface="+mj-lt"/>
                <a:ea typeface="Times New Roman" pitchFamily="18" charset="0"/>
                <a:cs typeface="Times New Roman" pitchFamily="18" charset="0"/>
              </a:rPr>
              <a:t>and install the equipment at site, </a:t>
            </a:r>
          </a:p>
          <a:p>
            <a:pPr algn="just" eaLnBrk="0" fontAlgn="base" hangingPunct="0">
              <a:spcBef>
                <a:spcPct val="0"/>
              </a:spcBef>
              <a:spcAft>
                <a:spcPct val="0"/>
              </a:spcAft>
              <a:buFont typeface="Wingdings" pitchFamily="2" charset="2"/>
              <a:buChar char="q"/>
            </a:pPr>
            <a:r>
              <a:rPr lang="en-GB" sz="1200" dirty="0" smtClean="0">
                <a:solidFill>
                  <a:srgbClr val="000000"/>
                </a:solidFill>
                <a:latin typeface="+mj-lt"/>
                <a:ea typeface="Times New Roman" pitchFamily="18" charset="0"/>
                <a:cs typeface="Times New Roman" pitchFamily="18" charset="0"/>
              </a:rPr>
              <a:t>  Monitor </a:t>
            </a:r>
            <a:r>
              <a:rPr lang="en-GB" sz="1200" dirty="0">
                <a:solidFill>
                  <a:srgbClr val="000000"/>
                </a:solidFill>
                <a:latin typeface="+mj-lt"/>
                <a:ea typeface="Times New Roman" pitchFamily="18" charset="0"/>
                <a:cs typeface="Times New Roman" pitchFamily="18" charset="0"/>
              </a:rPr>
              <a:t>their daily usage, </a:t>
            </a:r>
          </a:p>
          <a:p>
            <a:pPr algn="just" eaLnBrk="0" fontAlgn="base" hangingPunct="0">
              <a:spcBef>
                <a:spcPct val="0"/>
              </a:spcBef>
              <a:spcAft>
                <a:spcPct val="0"/>
              </a:spcAft>
              <a:buFont typeface="Wingdings" pitchFamily="2" charset="2"/>
              <a:buChar char="q"/>
            </a:pPr>
            <a:r>
              <a:rPr lang="en-GB" sz="1200" dirty="0" smtClean="0">
                <a:solidFill>
                  <a:srgbClr val="000000"/>
                </a:solidFill>
                <a:latin typeface="+mj-lt"/>
                <a:ea typeface="Times New Roman" pitchFamily="18" charset="0"/>
                <a:cs typeface="Times New Roman" pitchFamily="18" charset="0"/>
              </a:rPr>
              <a:t>  Manage </a:t>
            </a:r>
            <a:r>
              <a:rPr lang="en-GB" sz="1200" dirty="0">
                <a:solidFill>
                  <a:srgbClr val="000000"/>
                </a:solidFill>
                <a:latin typeface="+mj-lt"/>
                <a:ea typeface="Times New Roman" pitchFamily="18" charset="0"/>
                <a:cs typeface="Times New Roman" pitchFamily="18" charset="0"/>
              </a:rPr>
              <a:t>all stages of equipment maintenance and </a:t>
            </a:r>
          </a:p>
          <a:p>
            <a:pPr algn="just" eaLnBrk="0" fontAlgn="base" hangingPunct="0">
              <a:spcBef>
                <a:spcPct val="0"/>
              </a:spcBef>
              <a:spcAft>
                <a:spcPct val="0"/>
              </a:spcAft>
              <a:buFont typeface="Wingdings" pitchFamily="2" charset="2"/>
              <a:buChar char="q"/>
            </a:pPr>
            <a:r>
              <a:rPr lang="en-GB" sz="1200" dirty="0" smtClean="0">
                <a:solidFill>
                  <a:srgbClr val="000000"/>
                </a:solidFill>
                <a:latin typeface="+mj-lt"/>
                <a:ea typeface="Times New Roman" pitchFamily="18" charset="0"/>
                <a:cs typeface="Times New Roman" pitchFamily="18" charset="0"/>
              </a:rPr>
              <a:t>  Finally </a:t>
            </a:r>
            <a:r>
              <a:rPr lang="en-GB" sz="1200" dirty="0">
                <a:solidFill>
                  <a:srgbClr val="000000"/>
                </a:solidFill>
                <a:latin typeface="+mj-lt"/>
                <a:ea typeface="Times New Roman" pitchFamily="18" charset="0"/>
                <a:cs typeface="Times New Roman" pitchFamily="18" charset="0"/>
              </a:rPr>
              <a:t>disposal of the equipment when condemned</a:t>
            </a:r>
            <a:endParaRPr lang="en-US" sz="1200" dirty="0">
              <a:latin typeface="+mj-lt"/>
              <a:cs typeface="Arial" pitchFamily="34" charset="0"/>
            </a:endParaRPr>
          </a:p>
        </p:txBody>
      </p:sp>
      <p:sp>
        <p:nvSpPr>
          <p:cNvPr id="16" name="Rectangle 15"/>
          <p:cNvSpPr/>
          <p:nvPr/>
        </p:nvSpPr>
        <p:spPr>
          <a:xfrm>
            <a:off x="605156" y="3933586"/>
            <a:ext cx="1125116" cy="323165"/>
          </a:xfrm>
          <a:prstGeom prst="rect">
            <a:avLst/>
          </a:prstGeom>
        </p:spPr>
        <p:txBody>
          <a:bodyPr wrap="none">
            <a:spAutoFit/>
          </a:bodyPr>
          <a:lstStyle/>
          <a:p>
            <a:r>
              <a:rPr lang="en-GB" sz="1500" b="1" dirty="0">
                <a:solidFill>
                  <a:srgbClr val="C00000"/>
                </a:solidFill>
              </a:rPr>
              <a:t>OBJECTIVES</a:t>
            </a:r>
          </a:p>
        </p:txBody>
      </p:sp>
      <p:sp>
        <p:nvSpPr>
          <p:cNvPr id="17" name="TextBox 16"/>
          <p:cNvSpPr txBox="1"/>
          <p:nvPr/>
        </p:nvSpPr>
        <p:spPr>
          <a:xfrm>
            <a:off x="416763" y="6066740"/>
            <a:ext cx="11427334" cy="276999"/>
          </a:xfrm>
          <a:prstGeom prst="rect">
            <a:avLst/>
          </a:prstGeom>
          <a:noFill/>
        </p:spPr>
        <p:txBody>
          <a:bodyPr wrap="square" rtlCol="0">
            <a:spAutoFit/>
          </a:bodyPr>
          <a:lstStyle/>
          <a:p>
            <a:r>
              <a:rPr lang="en-GB" sz="1200" b="1" dirty="0"/>
              <a:t>Rajasthan | Gujarat | Telangana | Jammu &amp; Kashmir | Bihar | Madhya Pradesh | Punjab | Odisha | Tamil Nadu | IMS-Andhra Pradesh | Jharkhand | Nagaland </a:t>
            </a:r>
          </a:p>
        </p:txBody>
      </p:sp>
      <p:sp>
        <p:nvSpPr>
          <p:cNvPr id="18" name="Rectangle 17"/>
          <p:cNvSpPr/>
          <p:nvPr/>
        </p:nvSpPr>
        <p:spPr>
          <a:xfrm>
            <a:off x="413511" y="5784664"/>
            <a:ext cx="1879041" cy="307777"/>
          </a:xfrm>
          <a:prstGeom prst="rect">
            <a:avLst/>
          </a:prstGeom>
        </p:spPr>
        <p:txBody>
          <a:bodyPr wrap="none">
            <a:spAutoFit/>
          </a:bodyPr>
          <a:lstStyle/>
          <a:p>
            <a:r>
              <a:rPr lang="en-GB" sz="1400" b="1" dirty="0">
                <a:solidFill>
                  <a:srgbClr val="C00000"/>
                </a:solidFill>
                <a:latin typeface="Poppins" panose="00000500000000000000" pitchFamily="2" charset="0"/>
                <a:cs typeface="Poppins" panose="00000500000000000000" pitchFamily="2" charset="0"/>
              </a:rPr>
              <a:t>IMPLEMENTATIONS</a:t>
            </a:r>
          </a:p>
        </p:txBody>
      </p:sp>
      <p:sp>
        <p:nvSpPr>
          <p:cNvPr id="19" name="Title 1"/>
          <p:cNvSpPr txBox="1">
            <a:spLocks/>
          </p:cNvSpPr>
          <p:nvPr/>
        </p:nvSpPr>
        <p:spPr>
          <a:xfrm>
            <a:off x="1900530" y="412165"/>
            <a:ext cx="5574159" cy="289001"/>
          </a:xfrm>
          <a:prstGeom prst="rect">
            <a:avLst/>
          </a:prstGeom>
        </p:spPr>
        <p:txBody>
          <a:bodyPr vert="horz" anchor="b">
            <a:noAutofit/>
          </a:bodyPr>
          <a:lstStyle>
            <a:lvl1pPr algn="ctr" rtl="0" eaLnBrk="1" latinLnBrk="0" hangingPunct="1">
              <a:spcBef>
                <a:spcPct val="0"/>
              </a:spcBef>
              <a:buNone/>
              <a:defRPr kumimoji="0" sz="4200" kern="1200">
                <a:solidFill>
                  <a:schemeClr val="accent1"/>
                </a:solidFill>
                <a:latin typeface="+mj-lt"/>
                <a:ea typeface="+mj-ea"/>
                <a:cs typeface="+mj-cs"/>
              </a:defRPr>
            </a:lvl1pPr>
          </a:lstStyle>
          <a:p>
            <a:pPr algn="l"/>
            <a:endParaRPr lang="en-US" sz="1800" b="1" dirty="0" smtClean="0">
              <a:solidFill>
                <a:schemeClr val="accent5">
                  <a:lumMod val="75000"/>
                </a:schemeClr>
              </a:solidFill>
            </a:endParaRPr>
          </a:p>
          <a:p>
            <a:pPr algn="l"/>
            <a:r>
              <a:rPr lang="en-US" sz="1800" b="1" dirty="0" smtClean="0">
                <a:solidFill>
                  <a:schemeClr val="accent5">
                    <a:lumMod val="75000"/>
                  </a:schemeClr>
                </a:solidFill>
              </a:rPr>
              <a:t> (</a:t>
            </a:r>
            <a:r>
              <a:rPr lang="en-US" sz="1800" b="1" dirty="0">
                <a:solidFill>
                  <a:schemeClr val="accent5">
                    <a:lumMod val="75000"/>
                  </a:schemeClr>
                </a:solidFill>
              </a:rPr>
              <a:t>Equipment Management &amp; Maintenance System)</a:t>
            </a:r>
            <a:endParaRPr lang="en-IN" sz="1800" b="1" dirty="0">
              <a:solidFill>
                <a:schemeClr val="accent5">
                  <a:lumMod val="75000"/>
                </a:schemeClr>
              </a:solidFill>
            </a:endParaRPr>
          </a:p>
        </p:txBody>
      </p:sp>
    </p:spTree>
    <p:extLst>
      <p:ext uri="{BB962C8B-B14F-4D97-AF65-F5344CB8AC3E}">
        <p14:creationId xmlns:p14="http://schemas.microsoft.com/office/powerpoint/2010/main" val="370365524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79656" y="120146"/>
            <a:ext cx="3209719" cy="612320"/>
          </a:xfrm>
          <a:prstGeom prst="rect">
            <a:avLst/>
          </a:prstGeom>
        </p:spPr>
        <p:txBody>
          <a:bodyPr vert="horz" anchor="b">
            <a:normAutofit/>
          </a:bodyPr>
          <a:lstStyle>
            <a:lvl1pPr algn="ctr" rtl="0" eaLnBrk="1" latinLnBrk="0" hangingPunct="1">
              <a:spcBef>
                <a:spcPct val="0"/>
              </a:spcBef>
              <a:buNone/>
              <a:defRPr kumimoji="0" sz="4200" kern="1200">
                <a:solidFill>
                  <a:schemeClr val="accent1"/>
                </a:solidFill>
                <a:latin typeface="+mj-lt"/>
                <a:ea typeface="+mj-ea"/>
                <a:cs typeface="+mj-cs"/>
              </a:defRPr>
            </a:lvl1pPr>
          </a:lstStyle>
          <a:p>
            <a:pPr algn="l"/>
            <a:r>
              <a:rPr lang="en-US" sz="3200" b="1" dirty="0" smtClean="0">
                <a:solidFill>
                  <a:schemeClr val="accent5">
                    <a:lumMod val="75000"/>
                  </a:schemeClr>
                </a:solidFill>
              </a:rPr>
              <a:t>e-</a:t>
            </a:r>
            <a:r>
              <a:rPr lang="en-US" sz="3200" b="1" dirty="0" err="1" smtClean="0">
                <a:solidFill>
                  <a:schemeClr val="accent5">
                    <a:lumMod val="75000"/>
                  </a:schemeClr>
                </a:solidFill>
              </a:rPr>
              <a:t>Aushadhi</a:t>
            </a:r>
            <a:endParaRPr lang="en-IN" sz="3200" b="1" dirty="0">
              <a:solidFill>
                <a:schemeClr val="accent5">
                  <a:lumMod val="75000"/>
                </a:schemeClr>
              </a:solidFill>
            </a:endParaRPr>
          </a:p>
        </p:txBody>
      </p:sp>
      <p:sp>
        <p:nvSpPr>
          <p:cNvPr id="8" name="TextBox 7"/>
          <p:cNvSpPr txBox="1"/>
          <p:nvPr/>
        </p:nvSpPr>
        <p:spPr>
          <a:xfrm>
            <a:off x="5959660" y="868598"/>
            <a:ext cx="5979043" cy="1383136"/>
          </a:xfrm>
          <a:prstGeom prst="rect">
            <a:avLst/>
          </a:prstGeom>
          <a:noFill/>
        </p:spPr>
        <p:txBody>
          <a:bodyPr wrap="square" rtlCol="0">
            <a:spAutoFit/>
          </a:bodyPr>
          <a:lstStyle/>
          <a:p>
            <a:pPr algn="just">
              <a:lnSpc>
                <a:spcPts val="1700"/>
              </a:lnSpc>
            </a:pPr>
            <a:r>
              <a:rPr lang="en-US" sz="1600" b="1" dirty="0" smtClean="0">
                <a:solidFill>
                  <a:srgbClr val="C00000"/>
                </a:solidFill>
              </a:rPr>
              <a:t>e-</a:t>
            </a:r>
            <a:r>
              <a:rPr lang="en-US" sz="1600" b="1" dirty="0" err="1" smtClean="0">
                <a:solidFill>
                  <a:srgbClr val="C00000"/>
                </a:solidFill>
              </a:rPr>
              <a:t>Aushadhi</a:t>
            </a:r>
            <a:r>
              <a:rPr lang="en-US" sz="1100" dirty="0" smtClean="0">
                <a:solidFill>
                  <a:srgbClr val="C00000"/>
                </a:solidFill>
              </a:rPr>
              <a:t> </a:t>
            </a:r>
            <a:r>
              <a:rPr lang="en-GB" sz="1150" b="1" dirty="0"/>
              <a:t>is a web based Supply Chain Management System that deals in purchase, supply, distribution and inventory management of various drugs, sutures, surgical and consumable items by linking various Regional/ District Drug warehouses (DWH), District Hospitals (DH), their sub stores like Community Health Centre (CHC), Primary Health Centre (PHC) and Sub Centres. The system also has the functionality for distribution of drugs to patients, thus enabling tracking of consumption till last mile.</a:t>
            </a:r>
          </a:p>
        </p:txBody>
      </p:sp>
      <p:sp>
        <p:nvSpPr>
          <p:cNvPr id="18" name="Rectangle 17"/>
          <p:cNvSpPr/>
          <p:nvPr/>
        </p:nvSpPr>
        <p:spPr>
          <a:xfrm>
            <a:off x="378342" y="5665271"/>
            <a:ext cx="1879041" cy="307777"/>
          </a:xfrm>
          <a:prstGeom prst="rect">
            <a:avLst/>
          </a:prstGeom>
        </p:spPr>
        <p:txBody>
          <a:bodyPr wrap="none">
            <a:spAutoFit/>
          </a:bodyPr>
          <a:lstStyle/>
          <a:p>
            <a:r>
              <a:rPr lang="en-GB" sz="1400" b="1" dirty="0">
                <a:solidFill>
                  <a:srgbClr val="C00000"/>
                </a:solidFill>
                <a:latin typeface="Poppins" panose="00000500000000000000" pitchFamily="2" charset="0"/>
                <a:cs typeface="Poppins" panose="00000500000000000000" pitchFamily="2" charset="0"/>
              </a:rPr>
              <a:t>IMPLEMENTATIONS</a:t>
            </a:r>
          </a:p>
        </p:txBody>
      </p:sp>
      <p:sp>
        <p:nvSpPr>
          <p:cNvPr id="19" name="Title 1"/>
          <p:cNvSpPr txBox="1">
            <a:spLocks/>
          </p:cNvSpPr>
          <p:nvPr/>
        </p:nvSpPr>
        <p:spPr>
          <a:xfrm>
            <a:off x="2006037" y="390144"/>
            <a:ext cx="5565195" cy="252407"/>
          </a:xfrm>
          <a:prstGeom prst="rect">
            <a:avLst/>
          </a:prstGeom>
        </p:spPr>
        <p:txBody>
          <a:bodyPr vert="horz" anchor="b">
            <a:noAutofit/>
          </a:bodyPr>
          <a:lstStyle>
            <a:lvl1pPr algn="ctr" rtl="0" eaLnBrk="1" latinLnBrk="0" hangingPunct="1">
              <a:spcBef>
                <a:spcPct val="0"/>
              </a:spcBef>
              <a:buNone/>
              <a:defRPr kumimoji="0" sz="4200" kern="1200">
                <a:solidFill>
                  <a:schemeClr val="accent1"/>
                </a:solidFill>
                <a:latin typeface="+mj-lt"/>
                <a:ea typeface="+mj-ea"/>
                <a:cs typeface="+mj-cs"/>
              </a:defRPr>
            </a:lvl1pPr>
          </a:lstStyle>
          <a:p>
            <a:pPr algn="l"/>
            <a:endParaRPr lang="en-US" sz="1800" b="1" dirty="0" smtClean="0">
              <a:solidFill>
                <a:schemeClr val="accent5">
                  <a:lumMod val="75000"/>
                </a:schemeClr>
              </a:solidFill>
            </a:endParaRPr>
          </a:p>
          <a:p>
            <a:pPr algn="l"/>
            <a:r>
              <a:rPr lang="en-US" sz="1800" b="1" dirty="0" smtClean="0">
                <a:solidFill>
                  <a:schemeClr val="accent5">
                    <a:lumMod val="75000"/>
                  </a:schemeClr>
                </a:solidFill>
              </a:rPr>
              <a:t> (</a:t>
            </a:r>
            <a:r>
              <a:rPr lang="en-US" sz="1800" b="1" dirty="0">
                <a:solidFill>
                  <a:schemeClr val="accent5">
                    <a:lumMod val="75000"/>
                  </a:schemeClr>
                </a:solidFill>
              </a:rPr>
              <a:t>Drug &amp; Vaccine Distribution Management System</a:t>
            </a:r>
            <a:r>
              <a:rPr lang="en-US" sz="1800" b="1" dirty="0" smtClean="0">
                <a:solidFill>
                  <a:schemeClr val="accent5">
                    <a:lumMod val="75000"/>
                  </a:schemeClr>
                </a:solidFill>
              </a:rPr>
              <a:t>)</a:t>
            </a:r>
            <a:endParaRPr lang="en-IN" sz="1800" b="1" dirty="0">
              <a:solidFill>
                <a:schemeClr val="accent5">
                  <a:lumMod val="75000"/>
                </a:schemeClr>
              </a:solidFill>
            </a:endParaRPr>
          </a:p>
        </p:txBody>
      </p:sp>
      <p:sp>
        <p:nvSpPr>
          <p:cNvPr id="21" name="TextBox 20">
            <a:extLst>
              <a:ext uri="{FF2B5EF4-FFF2-40B4-BE49-F238E27FC236}">
                <a16:creationId xmlns:a16="http://schemas.microsoft.com/office/drawing/2014/main" id="{45D84D4F-0BB0-A3B4-BF01-4B64F6DDDA6F}"/>
              </a:ext>
            </a:extLst>
          </p:cNvPr>
          <p:cNvSpPr txBox="1"/>
          <p:nvPr/>
        </p:nvSpPr>
        <p:spPr>
          <a:xfrm>
            <a:off x="381272" y="5939794"/>
            <a:ext cx="11313254" cy="779701"/>
          </a:xfrm>
          <a:prstGeom prst="rect">
            <a:avLst/>
          </a:prstGeom>
          <a:noFill/>
        </p:spPr>
        <p:txBody>
          <a:bodyPr wrap="square" rtlCol="0">
            <a:spAutoFit/>
          </a:bodyPr>
          <a:lstStyle/>
          <a:p>
            <a:pPr algn="just">
              <a:lnSpc>
                <a:spcPts val="1600"/>
              </a:lnSpc>
            </a:pPr>
            <a:r>
              <a:rPr lang="en-GB" sz="1200" b="1" dirty="0" smtClean="0">
                <a:solidFill>
                  <a:srgbClr val="C00000"/>
                </a:solidFill>
              </a:rPr>
              <a:t>STATES &amp; UT </a:t>
            </a:r>
            <a:r>
              <a:rPr lang="en-GB" sz="1200" b="1" dirty="0" smtClean="0"/>
              <a:t>: Rajasthan | Gujarat | Telangana | Jammu &amp; Kashmir | Bihar | Madhya Pradesh | Maharashtra | Punjab | Andhra Pradesh | Uttar Pradesh | </a:t>
            </a:r>
            <a:r>
              <a:rPr lang="en-GB" sz="1200" b="1" dirty="0" err="1" smtClean="0"/>
              <a:t>Uttarakhand</a:t>
            </a:r>
            <a:r>
              <a:rPr lang="en-GB" sz="1200" b="1" dirty="0" smtClean="0"/>
              <a:t> |   Manipur | Himachal Pradesh | Jharkhand | Meghalaya | Assam | Arunachal Pradesh | Mizoram | Nagaland | Odisha | Sikkim | UT (Puducherry &amp; Lakshadweep)</a:t>
            </a:r>
          </a:p>
          <a:p>
            <a:pPr algn="just">
              <a:lnSpc>
                <a:spcPct val="150000"/>
              </a:lnSpc>
            </a:pPr>
            <a:r>
              <a:rPr lang="en-GB" sz="1200" b="1" dirty="0" smtClean="0">
                <a:solidFill>
                  <a:srgbClr val="C00000"/>
                </a:solidFill>
              </a:rPr>
              <a:t>NATIONAL PROGRAM :</a:t>
            </a:r>
            <a:r>
              <a:rPr lang="en-GB" sz="1200" b="1" dirty="0" smtClean="0"/>
              <a:t> Central Dash Board-</a:t>
            </a:r>
            <a:r>
              <a:rPr lang="en-GB" sz="1200" b="1" dirty="0" err="1" smtClean="0"/>
              <a:t>MoHFW</a:t>
            </a:r>
            <a:r>
              <a:rPr lang="en-GB" sz="1200" b="1" dirty="0" smtClean="0"/>
              <a:t> | TB-</a:t>
            </a:r>
            <a:r>
              <a:rPr lang="en-GB" sz="1200" b="1" dirty="0" err="1" smtClean="0"/>
              <a:t>MoHFW</a:t>
            </a:r>
            <a:r>
              <a:rPr lang="en-GB" sz="1200" b="1" dirty="0" smtClean="0"/>
              <a:t> | FP-</a:t>
            </a:r>
            <a:r>
              <a:rPr lang="en-GB" sz="1200" b="1" dirty="0" err="1" smtClean="0"/>
              <a:t>MoHFW</a:t>
            </a:r>
            <a:r>
              <a:rPr lang="en-GB" sz="1200" b="1" dirty="0" smtClean="0"/>
              <a:t> | CMSS-</a:t>
            </a:r>
            <a:r>
              <a:rPr lang="en-GB" sz="1200" b="1" dirty="0" err="1" smtClean="0"/>
              <a:t>MoHFW</a:t>
            </a:r>
            <a:r>
              <a:rPr lang="en-GB" sz="1200" b="1" dirty="0" smtClean="0"/>
              <a:t> | MSO-</a:t>
            </a:r>
            <a:r>
              <a:rPr lang="en-GB" sz="1200" b="1" dirty="0" err="1" smtClean="0"/>
              <a:t>MoHFW</a:t>
            </a:r>
            <a:r>
              <a:rPr lang="en-GB" sz="1200" b="1" dirty="0" smtClean="0"/>
              <a:t> | DGAFMS-MoD</a:t>
            </a:r>
            <a:endParaRPr lang="en-GB" sz="1200" b="1" dirty="0"/>
          </a:p>
        </p:txBody>
      </p:sp>
      <p:sp>
        <p:nvSpPr>
          <p:cNvPr id="28" name="Rounded Rectangle 27"/>
          <p:cNvSpPr/>
          <p:nvPr/>
        </p:nvSpPr>
        <p:spPr>
          <a:xfrm>
            <a:off x="6038549" y="2299729"/>
            <a:ext cx="5958769" cy="2101305"/>
          </a:xfrm>
          <a:prstGeom prst="roundRect">
            <a:avLst/>
          </a:prstGeom>
          <a:solidFill>
            <a:srgbClr val="CFEFFD"/>
          </a:solidFill>
          <a:ln w="11303"/>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p:cNvSpPr/>
          <p:nvPr/>
        </p:nvSpPr>
        <p:spPr>
          <a:xfrm>
            <a:off x="6309888" y="2369278"/>
            <a:ext cx="1879904" cy="323165"/>
          </a:xfrm>
          <a:prstGeom prst="rect">
            <a:avLst/>
          </a:prstGeom>
        </p:spPr>
        <p:txBody>
          <a:bodyPr wrap="square">
            <a:spAutoFit/>
          </a:bodyPr>
          <a:lstStyle/>
          <a:p>
            <a:r>
              <a:rPr lang="en-GB" sz="1500" b="1" dirty="0" smtClean="0">
                <a:solidFill>
                  <a:srgbClr val="C00000"/>
                </a:solidFill>
              </a:rPr>
              <a:t>KEY FEATURES</a:t>
            </a:r>
            <a:endParaRPr lang="en-GB" sz="1500" b="1" dirty="0">
              <a:solidFill>
                <a:srgbClr val="C00000"/>
              </a:solidFill>
            </a:endParaRPr>
          </a:p>
        </p:txBody>
      </p:sp>
      <p:sp>
        <p:nvSpPr>
          <p:cNvPr id="30" name="TextBox 29"/>
          <p:cNvSpPr txBox="1"/>
          <p:nvPr/>
        </p:nvSpPr>
        <p:spPr>
          <a:xfrm>
            <a:off x="6309888" y="2623262"/>
            <a:ext cx="5044626" cy="1754326"/>
          </a:xfrm>
          <a:prstGeom prst="rect">
            <a:avLst/>
          </a:prstGeom>
          <a:noFill/>
        </p:spPr>
        <p:txBody>
          <a:bodyPr wrap="square" rtlCol="0">
            <a:spAutoFit/>
          </a:bodyPr>
          <a:lstStyle/>
          <a:p>
            <a:pPr fontAlgn="base">
              <a:spcBef>
                <a:spcPct val="0"/>
              </a:spcBef>
              <a:spcAft>
                <a:spcPct val="0"/>
              </a:spcAft>
              <a:buFont typeface="Wingdings" pitchFamily="2" charset="2"/>
              <a:buChar char="q"/>
            </a:pPr>
            <a:r>
              <a:rPr lang="en-US" sz="1200" dirty="0" smtClean="0">
                <a:latin typeface="+mj-lt"/>
                <a:ea typeface="Cambria" pitchFamily="18" charset="0"/>
                <a:cs typeface="Arial" pitchFamily="34" charset="0"/>
              </a:rPr>
              <a:t>  Web </a:t>
            </a:r>
            <a:r>
              <a:rPr lang="en-US" sz="1200" dirty="0">
                <a:latin typeface="+mj-lt"/>
                <a:ea typeface="Cambria" pitchFamily="18" charset="0"/>
                <a:cs typeface="Arial" pitchFamily="34" charset="0"/>
              </a:rPr>
              <a:t>based on </a:t>
            </a:r>
            <a:r>
              <a:rPr lang="en-US" sz="1200" dirty="0" smtClean="0">
                <a:latin typeface="+mj-lt"/>
                <a:ea typeface="Cambria" pitchFamily="18" charset="0"/>
                <a:cs typeface="Arial" pitchFamily="34" charset="0"/>
              </a:rPr>
              <a:t>Open Source Platform</a:t>
            </a:r>
            <a:endParaRPr lang="en-US" sz="1200" dirty="0">
              <a:latin typeface="+mj-lt"/>
              <a:ea typeface="Cambria" pitchFamily="18" charset="0"/>
              <a:cs typeface="Arial" pitchFamily="34" charset="0"/>
            </a:endParaRPr>
          </a:p>
          <a:p>
            <a:pPr fontAlgn="base">
              <a:spcBef>
                <a:spcPct val="0"/>
              </a:spcBef>
              <a:spcAft>
                <a:spcPct val="0"/>
              </a:spcAft>
              <a:buFont typeface="Wingdings" pitchFamily="2" charset="2"/>
              <a:buChar char="q"/>
            </a:pPr>
            <a:r>
              <a:rPr lang="en-GB" sz="1200" dirty="0" smtClean="0">
                <a:latin typeface="+mj-lt"/>
                <a:ea typeface="Cambria" pitchFamily="18" charset="0"/>
                <a:cs typeface="Arial" pitchFamily="34" charset="0"/>
              </a:rPr>
              <a:t>  Alert Management System</a:t>
            </a:r>
            <a:endParaRPr lang="en-GB" sz="1200" dirty="0">
              <a:latin typeface="+mj-lt"/>
              <a:ea typeface="Cambria" pitchFamily="18" charset="0"/>
              <a:cs typeface="Arial" pitchFamily="34" charset="0"/>
            </a:endParaRPr>
          </a:p>
          <a:p>
            <a:pPr fontAlgn="base">
              <a:spcBef>
                <a:spcPct val="0"/>
              </a:spcBef>
              <a:spcAft>
                <a:spcPct val="0"/>
              </a:spcAft>
              <a:buFont typeface="Wingdings" pitchFamily="2" charset="2"/>
              <a:buChar char="q"/>
            </a:pPr>
            <a:r>
              <a:rPr lang="en-GB" sz="1200" dirty="0" smtClean="0">
                <a:latin typeface="+mj-lt"/>
                <a:ea typeface="Cambria" pitchFamily="18" charset="0"/>
                <a:cs typeface="Arial" pitchFamily="34" charset="0"/>
              </a:rPr>
              <a:t>  Centralised Dashboard </a:t>
            </a:r>
            <a:endParaRPr lang="en-GB" sz="1200" dirty="0">
              <a:latin typeface="+mj-lt"/>
              <a:ea typeface="Cambria" pitchFamily="18" charset="0"/>
              <a:cs typeface="Arial" pitchFamily="34" charset="0"/>
            </a:endParaRPr>
          </a:p>
          <a:p>
            <a:pPr fontAlgn="base">
              <a:spcBef>
                <a:spcPct val="0"/>
              </a:spcBef>
              <a:spcAft>
                <a:spcPct val="0"/>
              </a:spcAft>
              <a:buFont typeface="Wingdings" pitchFamily="2" charset="2"/>
              <a:buChar char="q"/>
            </a:pPr>
            <a:r>
              <a:rPr lang="en-GB" sz="1200" dirty="0" smtClean="0">
                <a:latin typeface="+mj-lt"/>
                <a:ea typeface="Cambria" pitchFamily="18" charset="0"/>
                <a:cs typeface="Arial" pitchFamily="34" charset="0"/>
              </a:rPr>
              <a:t>  Dynamic </a:t>
            </a:r>
            <a:r>
              <a:rPr lang="en-GB" sz="1200" dirty="0">
                <a:latin typeface="+mj-lt"/>
                <a:ea typeface="Cambria" pitchFamily="18" charset="0"/>
                <a:cs typeface="Arial" pitchFamily="34" charset="0"/>
              </a:rPr>
              <a:t>Reporting and Data Analysis</a:t>
            </a:r>
          </a:p>
          <a:p>
            <a:pPr fontAlgn="base">
              <a:spcBef>
                <a:spcPct val="0"/>
              </a:spcBef>
              <a:spcAft>
                <a:spcPct val="0"/>
              </a:spcAft>
              <a:buFont typeface="Wingdings" pitchFamily="2" charset="2"/>
              <a:buChar char="q"/>
            </a:pPr>
            <a:r>
              <a:rPr lang="en-GB" sz="1200" dirty="0" smtClean="0">
                <a:latin typeface="+mj-lt"/>
                <a:ea typeface="Cambria" pitchFamily="18" charset="0"/>
                <a:cs typeface="Arial" pitchFamily="34" charset="0"/>
              </a:rPr>
              <a:t>  Online/Offline </a:t>
            </a:r>
            <a:r>
              <a:rPr lang="en-GB" sz="1200" dirty="0">
                <a:latin typeface="+mj-lt"/>
                <a:ea typeface="Cambria" pitchFamily="18" charset="0"/>
                <a:cs typeface="Arial" pitchFamily="34" charset="0"/>
              </a:rPr>
              <a:t>Drug Distribution Counters</a:t>
            </a:r>
          </a:p>
          <a:p>
            <a:pPr fontAlgn="base">
              <a:spcBef>
                <a:spcPct val="0"/>
              </a:spcBef>
              <a:spcAft>
                <a:spcPct val="0"/>
              </a:spcAft>
              <a:buFont typeface="Wingdings" pitchFamily="2" charset="2"/>
              <a:buChar char="q"/>
            </a:pPr>
            <a:r>
              <a:rPr lang="en-US" sz="1200" dirty="0" smtClean="0">
                <a:latin typeface="+mj-lt"/>
                <a:ea typeface="Cambria" pitchFamily="18" charset="0"/>
                <a:cs typeface="Arial" pitchFamily="34" charset="0"/>
              </a:rPr>
              <a:t>  GS1 Compliant Barcode Interface</a:t>
            </a:r>
            <a:endParaRPr lang="en-US" sz="1200" dirty="0">
              <a:latin typeface="+mj-lt"/>
              <a:ea typeface="Cambria" pitchFamily="18" charset="0"/>
              <a:cs typeface="Arial" pitchFamily="34" charset="0"/>
            </a:endParaRPr>
          </a:p>
          <a:p>
            <a:pPr fontAlgn="base">
              <a:spcBef>
                <a:spcPct val="0"/>
              </a:spcBef>
              <a:spcAft>
                <a:spcPct val="0"/>
              </a:spcAft>
              <a:buFont typeface="Wingdings" pitchFamily="2" charset="2"/>
              <a:buChar char="q"/>
            </a:pPr>
            <a:r>
              <a:rPr lang="en-US" sz="1200" dirty="0" smtClean="0">
                <a:latin typeface="+mj-lt"/>
                <a:ea typeface="Cambria" pitchFamily="18" charset="0"/>
                <a:cs typeface="Arial" pitchFamily="34" charset="0"/>
              </a:rPr>
              <a:t>  Integration </a:t>
            </a:r>
            <a:r>
              <a:rPr lang="en-US" sz="1200" dirty="0">
                <a:latin typeface="+mj-lt"/>
                <a:ea typeface="Cambria" pitchFamily="18" charset="0"/>
                <a:cs typeface="Arial" pitchFamily="34" charset="0"/>
              </a:rPr>
              <a:t>with payment gateway and SMS gateway</a:t>
            </a:r>
          </a:p>
          <a:p>
            <a:pPr fontAlgn="base">
              <a:spcBef>
                <a:spcPct val="0"/>
              </a:spcBef>
              <a:spcAft>
                <a:spcPct val="0"/>
              </a:spcAft>
              <a:buFont typeface="Wingdings" pitchFamily="2" charset="2"/>
              <a:buChar char="q"/>
            </a:pPr>
            <a:r>
              <a:rPr lang="en-US" sz="1200" dirty="0" smtClean="0">
                <a:latin typeface="+mj-lt"/>
                <a:ea typeface="Cambria" pitchFamily="18" charset="0"/>
                <a:cs typeface="Arial" pitchFamily="34" charset="0"/>
              </a:rPr>
              <a:t>  Integration </a:t>
            </a:r>
            <a:r>
              <a:rPr lang="en-US" sz="1200" dirty="0">
                <a:latin typeface="+mj-lt"/>
                <a:ea typeface="Cambria" pitchFamily="18" charset="0"/>
                <a:cs typeface="Arial" pitchFamily="34" charset="0"/>
              </a:rPr>
              <a:t>with digital signature</a:t>
            </a:r>
            <a:endParaRPr lang="en-GB" sz="1200" dirty="0">
              <a:latin typeface="+mj-lt"/>
              <a:ea typeface="Cambria" pitchFamily="18" charset="0"/>
              <a:cs typeface="Arial" pitchFamily="34" charset="0"/>
            </a:endParaRPr>
          </a:p>
          <a:p>
            <a:pPr fontAlgn="base">
              <a:spcBef>
                <a:spcPct val="0"/>
              </a:spcBef>
              <a:spcAft>
                <a:spcPct val="0"/>
              </a:spcAft>
              <a:buFont typeface="Wingdings" pitchFamily="2" charset="2"/>
              <a:buChar char="q"/>
            </a:pPr>
            <a:r>
              <a:rPr lang="en-US" sz="1200" dirty="0" smtClean="0">
                <a:latin typeface="+mj-lt"/>
                <a:ea typeface="Cambria" pitchFamily="18" charset="0"/>
                <a:cs typeface="Arial" pitchFamily="34" charset="0"/>
              </a:rPr>
              <a:t>  Secured </a:t>
            </a:r>
            <a:r>
              <a:rPr lang="en-US" sz="1200" dirty="0">
                <a:latin typeface="+mj-lt"/>
                <a:ea typeface="Cambria" pitchFamily="18" charset="0"/>
                <a:cs typeface="Arial" pitchFamily="34" charset="0"/>
              </a:rPr>
              <a:t>and configurable architecture</a:t>
            </a:r>
            <a:endParaRPr lang="en-GB" sz="1200" dirty="0">
              <a:latin typeface="+mj-lt"/>
              <a:ea typeface="Cambria" pitchFamily="18" charset="0"/>
              <a:cs typeface="Arial" pitchFamily="34" charset="0"/>
            </a:endParaRPr>
          </a:p>
        </p:txBody>
      </p:sp>
      <p:pic>
        <p:nvPicPr>
          <p:cNvPr id="32" name="Picture 31" descr="Screenshot1.JPG"/>
          <p:cNvPicPr/>
          <p:nvPr/>
        </p:nvPicPr>
        <p:blipFill>
          <a:blip r:embed="rId2" cstate="print"/>
          <a:stretch>
            <a:fillRect/>
          </a:stretch>
        </p:blipFill>
        <p:spPr>
          <a:xfrm>
            <a:off x="6095194" y="4543436"/>
            <a:ext cx="5902123" cy="1347590"/>
          </a:xfrm>
          <a:prstGeom prst="rect">
            <a:avLst/>
          </a:prstGeom>
          <a:ln>
            <a:solidFill>
              <a:schemeClr val="tx1"/>
            </a:solidFill>
          </a:ln>
        </p:spPr>
      </p:pic>
      <p:pic>
        <p:nvPicPr>
          <p:cNvPr id="33" name="Picture 32" descr="Picture2.jpg"/>
          <p:cNvPicPr>
            <a:picLocks noChangeAspect="1"/>
          </p:cNvPicPr>
          <p:nvPr/>
        </p:nvPicPr>
        <p:blipFill>
          <a:blip r:embed="rId3"/>
          <a:stretch>
            <a:fillRect/>
          </a:stretch>
        </p:blipFill>
        <p:spPr>
          <a:xfrm>
            <a:off x="309315" y="1033616"/>
            <a:ext cx="2313353" cy="1058183"/>
          </a:xfrm>
          <a:prstGeom prst="rect">
            <a:avLst/>
          </a:prstGeom>
        </p:spPr>
      </p:pic>
      <p:pic>
        <p:nvPicPr>
          <p:cNvPr id="35" name="Picture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9315" y="2392949"/>
            <a:ext cx="5541288" cy="3068459"/>
          </a:xfrm>
          <a:prstGeom prst="rect">
            <a:avLst/>
          </a:prstGeom>
        </p:spPr>
      </p:pic>
      <p:pic>
        <p:nvPicPr>
          <p:cNvPr id="2" name="Picture 1"/>
          <p:cNvPicPr>
            <a:picLocks noChangeAspect="1"/>
          </p:cNvPicPr>
          <p:nvPr/>
        </p:nvPicPr>
        <p:blipFill>
          <a:blip r:embed="rId5"/>
          <a:stretch>
            <a:fillRect/>
          </a:stretch>
        </p:blipFill>
        <p:spPr>
          <a:xfrm>
            <a:off x="2661139" y="884667"/>
            <a:ext cx="3215126" cy="1358803"/>
          </a:xfrm>
          <a:prstGeom prst="rect">
            <a:avLst/>
          </a:prstGeom>
        </p:spPr>
      </p:pic>
    </p:spTree>
    <p:extLst>
      <p:ext uri="{BB962C8B-B14F-4D97-AF65-F5344CB8AC3E}">
        <p14:creationId xmlns:p14="http://schemas.microsoft.com/office/powerpoint/2010/main" val="178375517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239210" y="118270"/>
            <a:ext cx="3674422" cy="612320"/>
          </a:xfrm>
          <a:prstGeom prst="rect">
            <a:avLst/>
          </a:prstGeom>
        </p:spPr>
        <p:txBody>
          <a:bodyPr vert="horz" anchor="b">
            <a:normAutofit/>
          </a:bodyPr>
          <a:lstStyle>
            <a:lvl1pPr algn="ctr" rtl="0" eaLnBrk="1" latinLnBrk="0" hangingPunct="1">
              <a:spcBef>
                <a:spcPct val="0"/>
              </a:spcBef>
              <a:buNone/>
              <a:defRPr kumimoji="0" sz="4200" kern="1200">
                <a:solidFill>
                  <a:schemeClr val="accent1"/>
                </a:solidFill>
                <a:latin typeface="+mj-lt"/>
                <a:ea typeface="+mj-ea"/>
                <a:cs typeface="+mj-cs"/>
              </a:defRPr>
            </a:lvl1pPr>
          </a:lstStyle>
          <a:p>
            <a:pPr algn="l"/>
            <a:r>
              <a:rPr lang="en-US" sz="3200" b="1" dirty="0" smtClean="0">
                <a:solidFill>
                  <a:schemeClr val="accent5">
                    <a:lumMod val="75000"/>
                  </a:schemeClr>
                </a:solidFill>
              </a:rPr>
              <a:t>e-</a:t>
            </a:r>
            <a:r>
              <a:rPr lang="en-US" sz="3200" b="1" dirty="0" err="1" smtClean="0">
                <a:solidFill>
                  <a:schemeClr val="accent5">
                    <a:lumMod val="75000"/>
                  </a:schemeClr>
                </a:solidFill>
              </a:rPr>
              <a:t>Sushrut</a:t>
            </a:r>
            <a:r>
              <a:rPr lang="en-US" sz="3200" b="1" dirty="0" smtClean="0">
                <a:solidFill>
                  <a:schemeClr val="accent5">
                    <a:lumMod val="75000"/>
                  </a:schemeClr>
                </a:solidFill>
              </a:rPr>
              <a:t> Clinic</a:t>
            </a:r>
            <a:endParaRPr lang="en-IN" sz="3200" b="1" dirty="0">
              <a:solidFill>
                <a:schemeClr val="accent5">
                  <a:lumMod val="75000"/>
                </a:schemeClr>
              </a:solidFill>
            </a:endParaRPr>
          </a:p>
        </p:txBody>
      </p:sp>
      <p:sp>
        <p:nvSpPr>
          <p:cNvPr id="8" name="TextBox 7"/>
          <p:cNvSpPr txBox="1"/>
          <p:nvPr/>
        </p:nvSpPr>
        <p:spPr>
          <a:xfrm>
            <a:off x="5544394" y="958630"/>
            <a:ext cx="6455270" cy="338554"/>
          </a:xfrm>
          <a:prstGeom prst="rect">
            <a:avLst/>
          </a:prstGeom>
          <a:noFill/>
        </p:spPr>
        <p:txBody>
          <a:bodyPr wrap="square" rtlCol="0">
            <a:spAutoFit/>
          </a:bodyPr>
          <a:lstStyle/>
          <a:p>
            <a:r>
              <a:rPr lang="en-US" sz="1600" b="1" dirty="0" smtClean="0">
                <a:solidFill>
                  <a:srgbClr val="C00000"/>
                </a:solidFill>
              </a:rPr>
              <a:t>e-</a:t>
            </a:r>
            <a:r>
              <a:rPr lang="en-US" sz="1600" b="1" dirty="0" err="1" smtClean="0">
                <a:solidFill>
                  <a:srgbClr val="C00000"/>
                </a:solidFill>
              </a:rPr>
              <a:t>Sushrut</a:t>
            </a:r>
            <a:r>
              <a:rPr lang="en-US" sz="1600" b="1" dirty="0" smtClean="0">
                <a:solidFill>
                  <a:srgbClr val="C00000"/>
                </a:solidFill>
              </a:rPr>
              <a:t> Clinic</a:t>
            </a:r>
            <a:r>
              <a:rPr lang="en-US" sz="1600" b="1" dirty="0"/>
              <a:t> </a:t>
            </a:r>
            <a:r>
              <a:rPr lang="en-US" sz="1200" b="1" dirty="0"/>
              <a:t>is A SaaS Based Solution to Clinics, Nursing Homes, Pharmacies &amp; </a:t>
            </a:r>
            <a:r>
              <a:rPr lang="en-US" sz="1200" b="1" dirty="0" smtClean="0"/>
              <a:t>Labs.</a:t>
            </a:r>
            <a:endParaRPr lang="en-US" sz="1200" b="1" dirty="0"/>
          </a:p>
        </p:txBody>
      </p:sp>
      <p:sp>
        <p:nvSpPr>
          <p:cNvPr id="10" name="Rounded Rectangle 9"/>
          <p:cNvSpPr/>
          <p:nvPr/>
        </p:nvSpPr>
        <p:spPr>
          <a:xfrm>
            <a:off x="293690" y="4545398"/>
            <a:ext cx="4852893" cy="1886994"/>
          </a:xfrm>
          <a:prstGeom prst="roundRect">
            <a:avLst/>
          </a:prstGeom>
          <a:solidFill>
            <a:srgbClr val="CFEFFD"/>
          </a:solidFill>
          <a:ln w="11303"/>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ounded Rectangle 10"/>
          <p:cNvSpPr>
            <a:spLocks/>
          </p:cNvSpPr>
          <p:nvPr/>
        </p:nvSpPr>
        <p:spPr>
          <a:xfrm>
            <a:off x="5632496" y="1341232"/>
            <a:ext cx="6122303" cy="3108960"/>
          </a:xfrm>
          <a:prstGeom prst="roundRect">
            <a:avLst/>
          </a:prstGeom>
          <a:solidFill>
            <a:srgbClr val="CFEFFD"/>
          </a:solidFill>
          <a:ln w="11303"/>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3" name="Rectangle 12"/>
          <p:cNvSpPr/>
          <p:nvPr/>
        </p:nvSpPr>
        <p:spPr>
          <a:xfrm>
            <a:off x="5914403" y="1442034"/>
            <a:ext cx="1879904" cy="323165"/>
          </a:xfrm>
          <a:prstGeom prst="rect">
            <a:avLst/>
          </a:prstGeom>
        </p:spPr>
        <p:txBody>
          <a:bodyPr wrap="square">
            <a:spAutoFit/>
          </a:bodyPr>
          <a:lstStyle/>
          <a:p>
            <a:r>
              <a:rPr lang="en-GB" sz="1500" b="1" dirty="0" smtClean="0">
                <a:solidFill>
                  <a:srgbClr val="C00000"/>
                </a:solidFill>
              </a:rPr>
              <a:t>KEY FEATURES</a:t>
            </a:r>
            <a:endParaRPr lang="en-GB" sz="1500" b="1" dirty="0">
              <a:solidFill>
                <a:srgbClr val="C00000"/>
              </a:solidFill>
            </a:endParaRPr>
          </a:p>
        </p:txBody>
      </p:sp>
      <p:sp>
        <p:nvSpPr>
          <p:cNvPr id="14" name="Rectangle 1"/>
          <p:cNvSpPr>
            <a:spLocks noChangeArrowheads="1"/>
          </p:cNvSpPr>
          <p:nvPr/>
        </p:nvSpPr>
        <p:spPr bwMode="auto">
          <a:xfrm>
            <a:off x="5983964" y="1713103"/>
            <a:ext cx="4718593" cy="286232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q"/>
              <a:tabLst/>
            </a:pPr>
            <a:r>
              <a:rPr lang="en-GB" sz="1200" dirty="0" smtClean="0">
                <a:latin typeface="+mj-lt"/>
                <a:ea typeface="Cambria" pitchFamily="18" charset="0"/>
                <a:cs typeface="Arial" pitchFamily="34" charset="0"/>
              </a:rPr>
              <a:t>  Patient Registration</a:t>
            </a:r>
            <a:endParaRPr kumimoji="0" lang="en-GB" sz="1200" b="0" i="0" u="none" strike="noStrike" cap="none" normalizeH="0" baseline="0" dirty="0">
              <a:ln>
                <a:noFill/>
              </a:ln>
              <a:solidFill>
                <a:schemeClr val="tx1"/>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r>
              <a:rPr kumimoji="0" lang="en-GB" sz="1200" b="0" i="0" u="none" strike="noStrike" cap="none" normalizeH="0" baseline="0" dirty="0" smtClean="0">
                <a:ln>
                  <a:noFill/>
                </a:ln>
                <a:solidFill>
                  <a:schemeClr val="tx1"/>
                </a:solidFill>
                <a:effectLst/>
                <a:latin typeface="+mj-lt"/>
                <a:ea typeface="Cambria" pitchFamily="18" charset="0"/>
                <a:cs typeface="Arial" pitchFamily="34" charset="0"/>
              </a:rPr>
              <a:t>  Appointment Management</a:t>
            </a:r>
            <a:endParaRPr kumimoji="0" lang="en-GB" sz="1200" b="0" i="0" u="none" strike="noStrike" cap="none" normalizeH="0" baseline="0" dirty="0">
              <a:ln>
                <a:noFill/>
              </a:ln>
              <a:solidFill>
                <a:schemeClr val="tx1"/>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r>
              <a:rPr kumimoji="0" lang="en-GB" sz="1200" b="0" i="0" u="none" strike="noStrike" cap="none" normalizeH="0" baseline="0" dirty="0" smtClean="0">
                <a:ln>
                  <a:noFill/>
                </a:ln>
                <a:solidFill>
                  <a:schemeClr val="tx1"/>
                </a:solidFill>
                <a:effectLst/>
                <a:latin typeface="+mj-lt"/>
                <a:ea typeface="Cambria" pitchFamily="18" charset="0"/>
                <a:cs typeface="Arial" pitchFamily="34" charset="0"/>
              </a:rPr>
              <a:t>  Queue Management</a:t>
            </a:r>
            <a:endParaRPr kumimoji="0" lang="en-GB" sz="1200" b="0" i="0" u="none" strike="noStrike" cap="none" normalizeH="0" baseline="0" dirty="0">
              <a:ln>
                <a:noFill/>
              </a:ln>
              <a:solidFill>
                <a:schemeClr val="tx1"/>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r>
              <a:rPr kumimoji="0" lang="en-GB" sz="1200" b="0" i="0" u="none" strike="noStrike" cap="none" normalizeH="0" baseline="0" dirty="0" smtClean="0">
                <a:ln>
                  <a:noFill/>
                </a:ln>
                <a:solidFill>
                  <a:schemeClr val="tx1"/>
                </a:solidFill>
                <a:effectLst/>
                <a:latin typeface="+mj-lt"/>
                <a:ea typeface="Cambria" pitchFamily="18" charset="0"/>
                <a:cs typeface="Arial" pitchFamily="34" charset="0"/>
              </a:rPr>
              <a:t>  Communication Management</a:t>
            </a:r>
            <a:endParaRPr kumimoji="0" lang="en-GB" sz="1200" b="0" i="0" u="none" strike="noStrike" cap="none" normalizeH="0" baseline="0" dirty="0">
              <a:ln>
                <a:noFill/>
              </a:ln>
              <a:solidFill>
                <a:schemeClr val="tx1"/>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r>
              <a:rPr kumimoji="0" lang="en-GB" sz="1200" b="0" i="0" u="none" strike="noStrike" cap="none" normalizeH="0" baseline="0" dirty="0" smtClean="0">
                <a:ln>
                  <a:noFill/>
                </a:ln>
                <a:solidFill>
                  <a:schemeClr val="tx1"/>
                </a:solidFill>
                <a:effectLst/>
                <a:latin typeface="+mj-lt"/>
                <a:ea typeface="Cambria" pitchFamily="18" charset="0"/>
                <a:cs typeface="Arial" pitchFamily="34" charset="0"/>
              </a:rPr>
              <a:t>  OP Billing</a:t>
            </a:r>
            <a:endParaRPr kumimoji="0" lang="en-GB" sz="1200" b="0" i="0" u="none" strike="noStrike" cap="none" normalizeH="0" baseline="0" dirty="0">
              <a:ln>
                <a:noFill/>
              </a:ln>
              <a:solidFill>
                <a:schemeClr val="tx1"/>
              </a:solidFill>
              <a:effectLst/>
              <a:latin typeface="+mj-lt"/>
              <a:cs typeface="Arial" pitchFamily="34" charset="0"/>
            </a:endParaRP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r>
              <a:rPr kumimoji="0" lang="en-GB" sz="1200" b="0" i="0" u="none" strike="noStrike" cap="none" normalizeH="0" baseline="0" dirty="0" smtClean="0">
                <a:ln>
                  <a:noFill/>
                </a:ln>
                <a:solidFill>
                  <a:schemeClr val="tx1"/>
                </a:solidFill>
                <a:effectLst/>
                <a:latin typeface="+mj-lt"/>
                <a:ea typeface="Cambria" pitchFamily="18" charset="0"/>
                <a:cs typeface="Arial" pitchFamily="34" charset="0"/>
              </a:rPr>
              <a:t>  Role-Based Access</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r>
              <a:rPr lang="en-US" sz="1200" dirty="0" smtClean="0">
                <a:latin typeface="+mj-lt"/>
                <a:ea typeface="Cambria" pitchFamily="18" charset="0"/>
                <a:cs typeface="Arial" pitchFamily="34" charset="0"/>
              </a:rPr>
              <a:t>  Patient Portal</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r>
              <a:rPr kumimoji="0" lang="en-US" sz="1200" b="0" i="0" u="none" strike="noStrike" cap="none" normalizeH="0" baseline="0" dirty="0" smtClean="0">
                <a:ln>
                  <a:noFill/>
                </a:ln>
                <a:solidFill>
                  <a:schemeClr val="tx1"/>
                </a:solidFill>
                <a:effectLst/>
                <a:latin typeface="+mj-lt"/>
                <a:ea typeface="Cambria" pitchFamily="18" charset="0"/>
                <a:cs typeface="Arial" pitchFamily="34" charset="0"/>
              </a:rPr>
              <a:t>  Mobile App</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r>
              <a:rPr lang="en-US" sz="1200" dirty="0" smtClean="0">
                <a:latin typeface="+mj-lt"/>
                <a:ea typeface="Cambria" pitchFamily="18" charset="0"/>
                <a:cs typeface="Arial" pitchFamily="34" charset="0"/>
              </a:rPr>
              <a:t>  Multilingual Support</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r>
              <a:rPr kumimoji="0" lang="en-US" sz="1200" b="0" i="0" u="none" strike="noStrike" cap="none" normalizeH="0" baseline="0" dirty="0" smtClean="0">
                <a:ln>
                  <a:noFill/>
                </a:ln>
                <a:solidFill>
                  <a:schemeClr val="tx1"/>
                </a:solidFill>
                <a:effectLst/>
                <a:latin typeface="+mj-lt"/>
                <a:ea typeface="Cambria" pitchFamily="18" charset="0"/>
                <a:cs typeface="Arial" pitchFamily="34" charset="0"/>
              </a:rPr>
              <a:t>  Electronic</a:t>
            </a:r>
            <a:r>
              <a:rPr lang="en-US" sz="1200" dirty="0" smtClean="0">
                <a:latin typeface="+mj-lt"/>
                <a:ea typeface="Cambria" pitchFamily="18" charset="0"/>
                <a:cs typeface="Arial" pitchFamily="34" charset="0"/>
              </a:rPr>
              <a:t> Health Records</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r>
              <a:rPr kumimoji="0" lang="en-US" sz="1200" b="0" i="0" u="none" strike="noStrike" cap="none" normalizeH="0" baseline="0" dirty="0" smtClean="0">
                <a:ln>
                  <a:noFill/>
                </a:ln>
                <a:solidFill>
                  <a:schemeClr val="tx1"/>
                </a:solidFill>
                <a:effectLst/>
                <a:latin typeface="+mj-lt"/>
                <a:ea typeface="Cambria" pitchFamily="18" charset="0"/>
                <a:cs typeface="Arial" pitchFamily="34" charset="0"/>
              </a:rPr>
              <a:t>  Pharmacy</a:t>
            </a:r>
            <a:r>
              <a:rPr kumimoji="0" lang="en-US" sz="1200" b="0" i="0" u="none" strike="noStrike" cap="none" normalizeH="0" dirty="0" smtClean="0">
                <a:ln>
                  <a:noFill/>
                </a:ln>
                <a:solidFill>
                  <a:schemeClr val="tx1"/>
                </a:solidFill>
                <a:effectLst/>
                <a:latin typeface="+mj-lt"/>
                <a:ea typeface="Cambria" pitchFamily="18" charset="0"/>
                <a:cs typeface="Arial" pitchFamily="34" charset="0"/>
              </a:rPr>
              <a:t> Management</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r>
              <a:rPr lang="en-US" sz="1200" baseline="0" dirty="0" smtClean="0">
                <a:latin typeface="+mj-lt"/>
                <a:ea typeface="Cambria" pitchFamily="18" charset="0"/>
                <a:cs typeface="Arial" pitchFamily="34" charset="0"/>
              </a:rPr>
              <a:t>  Laboratory</a:t>
            </a:r>
            <a:r>
              <a:rPr lang="en-US" sz="1200" dirty="0" smtClean="0">
                <a:latin typeface="+mj-lt"/>
                <a:ea typeface="Cambria" pitchFamily="18" charset="0"/>
                <a:cs typeface="Arial" pitchFamily="34" charset="0"/>
              </a:rPr>
              <a:t> Management</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r>
              <a:rPr kumimoji="0" lang="en-US" sz="1200" b="0" i="0" u="none" strike="noStrike" cap="none" normalizeH="0" baseline="0" dirty="0" smtClean="0">
                <a:ln>
                  <a:noFill/>
                </a:ln>
                <a:solidFill>
                  <a:schemeClr val="tx1"/>
                </a:solidFill>
                <a:effectLst/>
                <a:latin typeface="+mj-lt"/>
                <a:ea typeface="Cambria" pitchFamily="18" charset="0"/>
                <a:cs typeface="Arial" pitchFamily="34" charset="0"/>
              </a:rPr>
              <a:t>  Multi-location</a:t>
            </a:r>
            <a:r>
              <a:rPr kumimoji="0" lang="en-US" sz="1200" b="0" i="0" u="none" strike="noStrike" cap="none" normalizeH="0" dirty="0" smtClean="0">
                <a:ln>
                  <a:noFill/>
                </a:ln>
                <a:solidFill>
                  <a:schemeClr val="tx1"/>
                </a:solidFill>
                <a:effectLst/>
                <a:latin typeface="+mj-lt"/>
                <a:ea typeface="Cambria" pitchFamily="18" charset="0"/>
                <a:cs typeface="Arial" pitchFamily="34" charset="0"/>
              </a:rPr>
              <a:t> Support</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r>
              <a:rPr lang="en-US" sz="1200" baseline="0" dirty="0" smtClean="0">
                <a:latin typeface="+mj-lt"/>
                <a:ea typeface="Cambria" pitchFamily="18" charset="0"/>
                <a:cs typeface="Arial" pitchFamily="34" charset="0"/>
              </a:rPr>
              <a:t>  Analytics</a:t>
            </a:r>
            <a:r>
              <a:rPr lang="en-US" sz="1200" dirty="0" smtClean="0">
                <a:latin typeface="+mj-lt"/>
                <a:ea typeface="Cambria" pitchFamily="18" charset="0"/>
                <a:cs typeface="Arial" pitchFamily="34" charset="0"/>
              </a:rPr>
              <a:t> and Report</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endParaRPr kumimoji="0" lang="en-GB" sz="1200" b="0" i="0" u="none" strike="noStrike" cap="none" normalizeH="0" baseline="0" dirty="0">
              <a:ln>
                <a:noFill/>
              </a:ln>
              <a:solidFill>
                <a:schemeClr val="tx1"/>
              </a:solidFill>
              <a:effectLst/>
              <a:latin typeface="+mj-lt"/>
              <a:cs typeface="Arial" pitchFamily="34" charset="0"/>
            </a:endParaRPr>
          </a:p>
        </p:txBody>
      </p:sp>
      <p:sp>
        <p:nvSpPr>
          <p:cNvPr id="15" name="Rectangle 14"/>
          <p:cNvSpPr/>
          <p:nvPr/>
        </p:nvSpPr>
        <p:spPr>
          <a:xfrm>
            <a:off x="500331" y="5022533"/>
            <a:ext cx="4395814" cy="1384995"/>
          </a:xfrm>
          <a:prstGeom prst="rect">
            <a:avLst/>
          </a:prstGeom>
        </p:spPr>
        <p:txBody>
          <a:bodyPr wrap="square">
            <a:spAutoFit/>
          </a:bodyPr>
          <a:lstStyle/>
          <a:p>
            <a:pPr eaLnBrk="0" fontAlgn="base" hangingPunct="0">
              <a:spcBef>
                <a:spcPct val="0"/>
              </a:spcBef>
              <a:spcAft>
                <a:spcPct val="0"/>
              </a:spcAft>
              <a:buFont typeface="Wingdings" pitchFamily="2" charset="2"/>
              <a:buChar char="q"/>
            </a:pPr>
            <a:r>
              <a:rPr lang="en-GB" sz="1200" dirty="0">
                <a:solidFill>
                  <a:srgbClr val="000000"/>
                </a:solidFill>
                <a:latin typeface="+mj-lt"/>
                <a:ea typeface="Cambria" pitchFamily="18" charset="0"/>
                <a:cs typeface="Times New Roman" pitchFamily="18" charset="0"/>
              </a:rPr>
              <a:t> </a:t>
            </a:r>
            <a:r>
              <a:rPr lang="en-GB" sz="1200" dirty="0" smtClean="0">
                <a:solidFill>
                  <a:srgbClr val="000000"/>
                </a:solidFill>
                <a:latin typeface="+mj-lt"/>
                <a:ea typeface="Cambria" pitchFamily="18" charset="0"/>
                <a:cs typeface="Times New Roman" pitchFamily="18" charset="0"/>
              </a:rPr>
              <a:t> </a:t>
            </a:r>
            <a:r>
              <a:rPr lang="en-IN" sz="1200" dirty="0" smtClean="0">
                <a:latin typeface="+mj-lt"/>
                <a:ea typeface="Cambria" pitchFamily="18" charset="0"/>
                <a:cs typeface="Arial" pitchFamily="34" charset="0"/>
              </a:rPr>
              <a:t>Seamless </a:t>
            </a:r>
            <a:r>
              <a:rPr lang="en-IN" sz="1200" dirty="0">
                <a:latin typeface="+mj-lt"/>
                <a:ea typeface="Cambria" pitchFamily="18" charset="0"/>
                <a:cs typeface="Arial" pitchFamily="34" charset="0"/>
              </a:rPr>
              <a:t>Configuration &amp;</a:t>
            </a:r>
            <a:r>
              <a:rPr lang="en-US" sz="1200" dirty="0">
                <a:latin typeface="+mj-lt"/>
                <a:ea typeface="Cambria" pitchFamily="18" charset="0"/>
                <a:cs typeface="Arial" pitchFamily="34" charset="0"/>
              </a:rPr>
              <a:t> Smooth Onboarding</a:t>
            </a:r>
          </a:p>
          <a:p>
            <a:pPr eaLnBrk="0" fontAlgn="base" hangingPunct="0">
              <a:spcBef>
                <a:spcPct val="0"/>
              </a:spcBef>
              <a:spcAft>
                <a:spcPct val="0"/>
              </a:spcAft>
              <a:buFont typeface="Wingdings" pitchFamily="2" charset="2"/>
              <a:buChar char="q"/>
            </a:pPr>
            <a:r>
              <a:rPr lang="en-GB" sz="1200" dirty="0" smtClean="0">
                <a:latin typeface="+mj-lt"/>
                <a:ea typeface="Cambria" pitchFamily="18" charset="0"/>
                <a:cs typeface="Arial" pitchFamily="34" charset="0"/>
              </a:rPr>
              <a:t>  </a:t>
            </a:r>
            <a:r>
              <a:rPr lang="en-US" sz="1200" dirty="0" smtClean="0">
                <a:latin typeface="+mj-lt"/>
                <a:ea typeface="Cambria" pitchFamily="18" charset="0"/>
                <a:cs typeface="Arial" pitchFamily="34" charset="0"/>
              </a:rPr>
              <a:t>ABDM </a:t>
            </a:r>
            <a:r>
              <a:rPr lang="en-US" sz="1200" dirty="0">
                <a:latin typeface="+mj-lt"/>
                <a:ea typeface="Cambria" pitchFamily="18" charset="0"/>
                <a:cs typeface="Arial" pitchFamily="34" charset="0"/>
              </a:rPr>
              <a:t>and Health Standards</a:t>
            </a:r>
            <a:endParaRPr lang="en-GB" sz="1200" dirty="0">
              <a:latin typeface="+mj-lt"/>
              <a:ea typeface="Cambria" pitchFamily="18" charset="0"/>
              <a:cs typeface="Arial" pitchFamily="34" charset="0"/>
            </a:endParaRPr>
          </a:p>
          <a:p>
            <a:pPr eaLnBrk="0" fontAlgn="base" hangingPunct="0">
              <a:spcBef>
                <a:spcPct val="0"/>
              </a:spcBef>
              <a:spcAft>
                <a:spcPct val="0"/>
              </a:spcAft>
              <a:buFont typeface="Wingdings" pitchFamily="2" charset="2"/>
              <a:buChar char="q"/>
            </a:pPr>
            <a:r>
              <a:rPr lang="en-GB" sz="1200" dirty="0" smtClean="0">
                <a:latin typeface="+mj-lt"/>
                <a:ea typeface="Cambria" pitchFamily="18" charset="0"/>
                <a:cs typeface="Arial" pitchFamily="34" charset="0"/>
              </a:rPr>
              <a:t>  </a:t>
            </a:r>
            <a:r>
              <a:rPr lang="en-US" sz="1200" dirty="0" smtClean="0">
                <a:latin typeface="+mj-lt"/>
                <a:ea typeface="Cambria" pitchFamily="18" charset="0"/>
                <a:cs typeface="Arial" pitchFamily="34" charset="0"/>
              </a:rPr>
              <a:t>Mobile-Friendly</a:t>
            </a:r>
            <a:endParaRPr lang="en-GB" sz="1200" dirty="0">
              <a:latin typeface="+mj-lt"/>
              <a:ea typeface="Cambria" pitchFamily="18" charset="0"/>
              <a:cs typeface="Arial" pitchFamily="34" charset="0"/>
            </a:endParaRPr>
          </a:p>
          <a:p>
            <a:pPr eaLnBrk="0" fontAlgn="base" hangingPunct="0">
              <a:spcBef>
                <a:spcPct val="0"/>
              </a:spcBef>
              <a:spcAft>
                <a:spcPct val="0"/>
              </a:spcAft>
              <a:buFont typeface="Wingdings" pitchFamily="2" charset="2"/>
              <a:buChar char="q"/>
            </a:pPr>
            <a:r>
              <a:rPr lang="en-US" sz="1200" dirty="0" smtClean="0">
                <a:latin typeface="+mj-lt"/>
                <a:ea typeface="Cambria" pitchFamily="18" charset="0"/>
                <a:cs typeface="Arial" pitchFamily="34" charset="0"/>
              </a:rPr>
              <a:t>  Secure </a:t>
            </a:r>
            <a:r>
              <a:rPr lang="en-US" sz="1200" dirty="0">
                <a:latin typeface="+mj-lt"/>
                <a:ea typeface="Cambria" pitchFamily="18" charset="0"/>
                <a:cs typeface="Arial" pitchFamily="34" charset="0"/>
              </a:rPr>
              <a:t>Data</a:t>
            </a:r>
          </a:p>
          <a:p>
            <a:pPr eaLnBrk="0" fontAlgn="base" hangingPunct="0">
              <a:spcBef>
                <a:spcPct val="0"/>
              </a:spcBef>
              <a:spcAft>
                <a:spcPct val="0"/>
              </a:spcAft>
              <a:buFont typeface="Wingdings" pitchFamily="2" charset="2"/>
              <a:buChar char="q"/>
            </a:pPr>
            <a:r>
              <a:rPr lang="en-US" sz="1200" dirty="0" smtClean="0">
                <a:latin typeface="+mj-lt"/>
                <a:ea typeface="Cambria" pitchFamily="18" charset="0"/>
                <a:cs typeface="Arial" pitchFamily="34" charset="0"/>
              </a:rPr>
              <a:t>  Scalability</a:t>
            </a:r>
            <a:endParaRPr lang="en-US" sz="1200" dirty="0">
              <a:latin typeface="+mj-lt"/>
              <a:ea typeface="Cambria" pitchFamily="18" charset="0"/>
              <a:cs typeface="Arial" pitchFamily="34" charset="0"/>
            </a:endParaRPr>
          </a:p>
          <a:p>
            <a:pPr eaLnBrk="0" fontAlgn="base" hangingPunct="0">
              <a:spcBef>
                <a:spcPct val="0"/>
              </a:spcBef>
              <a:spcAft>
                <a:spcPct val="0"/>
              </a:spcAft>
              <a:buFont typeface="Wingdings" pitchFamily="2" charset="2"/>
              <a:buChar char="q"/>
            </a:pPr>
            <a:r>
              <a:rPr lang="en-US" altLang="en-US" sz="1200" dirty="0" smtClean="0">
                <a:latin typeface="+mj-lt"/>
                <a:ea typeface="Cambria" pitchFamily="18" charset="0"/>
                <a:cs typeface="Arial" pitchFamily="34" charset="0"/>
              </a:rPr>
              <a:t>  Success </a:t>
            </a:r>
            <a:r>
              <a:rPr lang="en-US" altLang="en-US" sz="1200" dirty="0">
                <a:latin typeface="+mj-lt"/>
                <a:ea typeface="Cambria" pitchFamily="18" charset="0"/>
                <a:cs typeface="Arial" pitchFamily="34" charset="0"/>
              </a:rPr>
              <a:t>Stories/Client Names (noteworthy deployments)</a:t>
            </a:r>
          </a:p>
          <a:p>
            <a:pPr eaLnBrk="0" fontAlgn="base" hangingPunct="0">
              <a:spcBef>
                <a:spcPct val="0"/>
              </a:spcBef>
              <a:spcAft>
                <a:spcPct val="0"/>
              </a:spcAft>
              <a:buFont typeface="Wingdings" pitchFamily="2" charset="2"/>
              <a:buChar char="q"/>
            </a:pPr>
            <a:endParaRPr lang="en-US" sz="1200" dirty="0">
              <a:latin typeface="+mj-lt"/>
              <a:ea typeface="Cambria" pitchFamily="18" charset="0"/>
              <a:cs typeface="Arial" pitchFamily="34" charset="0"/>
            </a:endParaRPr>
          </a:p>
        </p:txBody>
      </p:sp>
      <p:sp>
        <p:nvSpPr>
          <p:cNvPr id="16" name="Rectangle 15"/>
          <p:cNvSpPr/>
          <p:nvPr/>
        </p:nvSpPr>
        <p:spPr>
          <a:xfrm>
            <a:off x="497668" y="4735411"/>
            <a:ext cx="503664" cy="355482"/>
          </a:xfrm>
          <a:prstGeom prst="rect">
            <a:avLst/>
          </a:prstGeom>
        </p:spPr>
        <p:txBody>
          <a:bodyPr wrap="none">
            <a:spAutoFit/>
          </a:bodyPr>
          <a:lstStyle/>
          <a:p>
            <a:r>
              <a:rPr lang="en-GB" sz="1500" b="1" dirty="0" smtClean="0">
                <a:solidFill>
                  <a:srgbClr val="C00000"/>
                </a:solidFill>
              </a:rPr>
              <a:t>USP</a:t>
            </a:r>
            <a:endParaRPr lang="en-GB" sz="1500" b="1" dirty="0">
              <a:solidFill>
                <a:srgbClr val="C00000"/>
              </a:solidFill>
            </a:endParaRPr>
          </a:p>
        </p:txBody>
      </p:sp>
      <p:pic>
        <p:nvPicPr>
          <p:cNvPr id="21" name="Picture 20"/>
          <p:cNvPicPr>
            <a:picLocks noChangeAspect="1"/>
          </p:cNvPicPr>
          <p:nvPr/>
        </p:nvPicPr>
        <p:blipFill>
          <a:blip r:embed="rId3"/>
          <a:stretch>
            <a:fillRect/>
          </a:stretch>
        </p:blipFill>
        <p:spPr>
          <a:xfrm>
            <a:off x="293689" y="1068565"/>
            <a:ext cx="2533644" cy="595680"/>
          </a:xfrm>
          <a:prstGeom prst="rect">
            <a:avLst/>
          </a:prstGeom>
        </p:spPr>
      </p:pic>
      <p:pic>
        <p:nvPicPr>
          <p:cNvPr id="22" name="Picture 21"/>
          <p:cNvPicPr>
            <a:picLocks noChangeAspect="1"/>
          </p:cNvPicPr>
          <p:nvPr/>
        </p:nvPicPr>
        <p:blipFill>
          <a:blip r:embed="rId4"/>
          <a:stretch>
            <a:fillRect/>
          </a:stretch>
        </p:blipFill>
        <p:spPr>
          <a:xfrm>
            <a:off x="5632496" y="4573870"/>
            <a:ext cx="6122303" cy="1858522"/>
          </a:xfrm>
          <a:prstGeom prst="rect">
            <a:avLst/>
          </a:prstGeom>
          <a:ln w="12700" cap="sq">
            <a:solidFill>
              <a:schemeClr val="tx1"/>
            </a:solidFill>
            <a:prstDash val="solid"/>
            <a:miter lim="800000"/>
          </a:ln>
          <a:effectLst>
            <a:outerShdw blurRad="50800" dist="38100" dir="2700000" algn="tl" rotWithShape="0">
              <a:srgbClr val="000000">
                <a:alpha val="43000"/>
              </a:srgbClr>
            </a:outerShdw>
          </a:effectLst>
        </p:spPr>
      </p:pic>
      <p:pic>
        <p:nvPicPr>
          <p:cNvPr id="23" name="Picture Placeholder 6"/>
          <p:cNvPicPr>
            <a:picLocks noChangeAspect="1"/>
          </p:cNvPicPr>
          <p:nvPr/>
        </p:nvPicPr>
        <p:blipFill>
          <a:blip r:embed="rId5">
            <a:extLst>
              <a:ext uri="{28A0092B-C50C-407E-A947-70E740481C1C}">
                <a14:useLocalDpi xmlns:a14="http://schemas.microsoft.com/office/drawing/2010/main" val="0"/>
              </a:ext>
            </a:extLst>
          </a:blip>
          <a:srcRect l="1845" r="1845"/>
          <a:stretch>
            <a:fillRect/>
          </a:stretch>
        </p:blipFill>
        <p:spPr>
          <a:xfrm>
            <a:off x="2952023" y="932896"/>
            <a:ext cx="2194560" cy="947559"/>
          </a:xfrm>
          <a:prstGeom prst="rect">
            <a:avLst/>
          </a:prstGeom>
        </p:spPr>
      </p:pic>
      <p:graphicFrame>
        <p:nvGraphicFramePr>
          <p:cNvPr id="6" name="Object 5"/>
          <p:cNvGraphicFramePr>
            <a:graphicFrameLocks noChangeAspect="1"/>
          </p:cNvGraphicFramePr>
          <p:nvPr>
            <p:extLst>
              <p:ext uri="{D42A27DB-BD31-4B8C-83A1-F6EECF244321}">
                <p14:modId xmlns:p14="http://schemas.microsoft.com/office/powerpoint/2010/main" val="3749583816"/>
              </p:ext>
            </p:extLst>
          </p:nvPr>
        </p:nvGraphicFramePr>
        <p:xfrm>
          <a:off x="293689" y="1945568"/>
          <a:ext cx="4937943" cy="2503940"/>
        </p:xfrm>
        <a:graphic>
          <a:graphicData uri="http://schemas.openxmlformats.org/presentationml/2006/ole">
            <mc:AlternateContent xmlns:mc="http://schemas.openxmlformats.org/markup-compatibility/2006">
              <mc:Choice xmlns:v="urn:schemas-microsoft-com:vml" Requires="v">
                <p:oleObj spid="_x0000_s1096" r:id="rId6" imgW="13815720" imgH="7669800" progId="">
                  <p:embed/>
                </p:oleObj>
              </mc:Choice>
              <mc:Fallback>
                <p:oleObj r:id="rId6" imgW="13815720" imgH="7669800" progId="">
                  <p:embed/>
                  <p:pic>
                    <p:nvPicPr>
                      <p:cNvPr id="0" name=""/>
                      <p:cNvPicPr/>
                      <p:nvPr/>
                    </p:nvPicPr>
                    <p:blipFill>
                      <a:blip r:embed="rId7"/>
                      <a:stretch>
                        <a:fillRect/>
                      </a:stretch>
                    </p:blipFill>
                    <p:spPr>
                      <a:xfrm>
                        <a:off x="293689" y="1945568"/>
                        <a:ext cx="4937943" cy="2503940"/>
                      </a:xfrm>
                      <a:prstGeom prst="rect">
                        <a:avLst/>
                      </a:prstGeom>
                    </p:spPr>
                  </p:pic>
                </p:oleObj>
              </mc:Fallback>
            </mc:AlternateContent>
          </a:graphicData>
        </a:graphic>
      </p:graphicFrame>
      <p:sp>
        <p:nvSpPr>
          <p:cNvPr id="24" name="Title 1"/>
          <p:cNvSpPr txBox="1">
            <a:spLocks/>
          </p:cNvSpPr>
          <p:nvPr/>
        </p:nvSpPr>
        <p:spPr>
          <a:xfrm>
            <a:off x="2762660" y="353226"/>
            <a:ext cx="6131575" cy="289001"/>
          </a:xfrm>
          <a:prstGeom prst="rect">
            <a:avLst/>
          </a:prstGeom>
        </p:spPr>
        <p:txBody>
          <a:bodyPr vert="horz" anchor="b">
            <a:noAutofit/>
          </a:bodyPr>
          <a:lstStyle>
            <a:lvl1pPr algn="ctr" rtl="0" eaLnBrk="1" latinLnBrk="0" hangingPunct="1">
              <a:spcBef>
                <a:spcPct val="0"/>
              </a:spcBef>
              <a:buNone/>
              <a:defRPr kumimoji="0" sz="4200" kern="1200">
                <a:solidFill>
                  <a:schemeClr val="accent1"/>
                </a:solidFill>
                <a:latin typeface="+mj-lt"/>
                <a:ea typeface="+mj-ea"/>
                <a:cs typeface="+mj-cs"/>
              </a:defRPr>
            </a:lvl1pPr>
          </a:lstStyle>
          <a:p>
            <a:pPr algn="l"/>
            <a:endParaRPr lang="en-US" sz="1800" b="1" dirty="0" smtClean="0">
              <a:solidFill>
                <a:schemeClr val="accent5">
                  <a:lumMod val="75000"/>
                </a:schemeClr>
              </a:solidFill>
            </a:endParaRPr>
          </a:p>
          <a:p>
            <a:pPr algn="l"/>
            <a:r>
              <a:rPr lang="en-US" sz="1800" b="1" dirty="0" smtClean="0">
                <a:solidFill>
                  <a:schemeClr val="accent5">
                    <a:lumMod val="75000"/>
                  </a:schemeClr>
                </a:solidFill>
              </a:rPr>
              <a:t> (</a:t>
            </a:r>
            <a:r>
              <a:rPr lang="en-US" sz="1800" b="1" dirty="0" err="1" smtClean="0">
                <a:solidFill>
                  <a:schemeClr val="accent5">
                    <a:lumMod val="75000"/>
                  </a:schemeClr>
                </a:solidFill>
              </a:rPr>
              <a:t>Saas</a:t>
            </a:r>
            <a:r>
              <a:rPr lang="en-US" sz="1800" b="1" dirty="0" smtClean="0">
                <a:solidFill>
                  <a:schemeClr val="accent5">
                    <a:lumMod val="75000"/>
                  </a:schemeClr>
                </a:solidFill>
              </a:rPr>
              <a:t> Based Solution)</a:t>
            </a:r>
            <a:endParaRPr lang="en-IN" sz="1800" b="1" dirty="0">
              <a:solidFill>
                <a:schemeClr val="accent5">
                  <a:lumMod val="75000"/>
                </a:schemeClr>
              </a:solidFill>
            </a:endParaRPr>
          </a:p>
        </p:txBody>
      </p:sp>
    </p:spTree>
    <p:extLst>
      <p:ext uri="{BB962C8B-B14F-4D97-AF65-F5344CB8AC3E}">
        <p14:creationId xmlns:p14="http://schemas.microsoft.com/office/powerpoint/2010/main" val="179307145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TotalTime>
  <Words>475</Words>
  <Application>Microsoft Office PowerPoint</Application>
  <PresentationFormat>Widescreen</PresentationFormat>
  <Paragraphs>63</Paragraphs>
  <Slides>3</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0</vt:i4>
      </vt:variant>
      <vt:variant>
        <vt:lpstr>Slide Titles</vt:lpstr>
      </vt:variant>
      <vt:variant>
        <vt:i4>3</vt:i4>
      </vt:variant>
    </vt:vector>
  </HeadingPairs>
  <TitlesOfParts>
    <vt:vector size="11" baseType="lpstr">
      <vt:lpstr>Arial</vt:lpstr>
      <vt:lpstr>Calibri</vt:lpstr>
      <vt:lpstr>Calibri Light</vt:lpstr>
      <vt:lpstr>Cambria</vt:lpstr>
      <vt:lpstr>Poppins</vt:lpstr>
      <vt:lpstr>Times New Roman</vt:lpstr>
      <vt:lpstr>Wingdings</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Mansi Aggarwal</cp:lastModifiedBy>
  <cp:revision>154</cp:revision>
  <dcterms:created xsi:type="dcterms:W3CDTF">2022-09-20T05:31:20Z</dcterms:created>
  <dcterms:modified xsi:type="dcterms:W3CDTF">2025-02-14T11:33:18Z</dcterms:modified>
</cp:coreProperties>
</file>